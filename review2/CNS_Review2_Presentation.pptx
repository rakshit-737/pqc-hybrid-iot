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Calibri"/>
              </a:defRPr>
            </a:pPr>
            <a:r>
              <a:rPr sz="1300" b="0" i="0" u="none" strike="noStrike">
                <a:solidFill>
                  <a:srgbClr val="1B2A4A"/>
                </a:solidFill>
                <a:latin typeface="Calibri"/>
              </a:rPr>
              <a:t>Encapsulation / key-exchange time, median (ms)</a:t>
            </a:r>
          </a:p>
        </c:rich>
      </c:tx>
      <c:layout/>
      <c:overlay val="0"/>
    </c:title>
    <c:autoTitleDeleted val="0"/>
    <c:plotArea>
      <c:layout/>
      <c:barChart>
        <c:barDir val="bar"/>
        <c:grouping val="clustered"/>
        <c:varyColors val="0"/>
        <c:ser>
          <c:idx val="0"/>
          <c:order val="0"/>
          <c:tx>
            <c:strRef>
              <c:f>Sheet1!$B$1</c:f>
              <c:strCache>
                <c:ptCount val="1"/>
                <c:pt idx="0">
                  <c:v>Median ms</c:v>
                </c:pt>
              </c:strCache>
            </c:strRef>
          </c:tx>
          <c:spPr>
            <a:solidFill>
              <a:srgbClr val="A7AFBB"/>
            </a:solidFill>
            <a:effectLst/>
          </c:spPr>
          <c:invertIfNegative val="0"/>
          <c:dLbls>
            <c:numFmt formatCode="0.0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A7AFBB"/>
              </a:solidFill>
              <a:effectLst/>
            </c:spPr>
          </c:dPt>
          <c:dPt>
            <c:idx val="1"/>
            <c:invertIfNegative val="0"/>
            <c:bubble3D val="0"/>
            <c:spPr>
              <a:solidFill>
                <a:srgbClr val="A7AFBB"/>
              </a:solidFill>
              <a:effectLst/>
            </c:spPr>
          </c:dPt>
          <c:dPt>
            <c:idx val="2"/>
            <c:invertIfNegative val="0"/>
            <c:bubble3D val="0"/>
            <c:spPr>
              <a:solidFill>
                <a:srgbClr val="1B2A4A"/>
              </a:solidFill>
              <a:effectLst/>
            </c:spPr>
          </c:dPt>
          <c:dPt>
            <c:idx val="3"/>
            <c:invertIfNegative val="0"/>
            <c:bubble3D val="0"/>
            <c:spPr>
              <a:solidFill>
                <a:srgbClr val="1B2A4A"/>
              </a:solidFill>
              <a:effectLst/>
            </c:spPr>
          </c:dPt>
          <c:dPt>
            <c:idx val="4"/>
            <c:invertIfNegative val="0"/>
            <c:bubble3D val="0"/>
            <c:spPr>
              <a:solidFill>
                <a:srgbClr val="1B2A4A"/>
              </a:solidFill>
              <a:effectLst/>
            </c:spPr>
          </c:dPt>
          <c:cat>
            <c:multiLvlStrRef>
              <c:f>Sheet1!$A$2:$A$6</c:f>
              <c:multiLvlStrCache>
                <c:ptCount val="5"/>
                <c:lvl>
                  <c:pt idx="0">
                    <c:v>X25519 (classical)</c:v>
                  </c:pt>
                  <c:pt idx="1">
                    <c:v>ECDH P-256 (classical)</c:v>
                  </c:pt>
                  <c:pt idx="2">
                    <c:v>ML-KEM-512</c:v>
                  </c:pt>
                  <c:pt idx="3">
                    <c:v>ML-KEM-768</c:v>
                  </c:pt>
                  <c:pt idx="4">
                    <c:v>ML-KEM-1024</c:v>
                  </c:pt>
                </c:lvl>
              </c:multiLvlStrCache>
            </c:multiLvlStrRef>
          </c:cat>
          <c:val>
            <c:numRef>
              <c:f>Sheet1!$B$2:$B$6</c:f>
              <c:numCache>
                <c:formatCode>General</c:formatCode>
                <c:ptCount val="5"/>
                <c:pt idx="0">
                  <c:v>0.111</c:v>
                </c:pt>
                <c:pt idx="1">
                  <c:v>0.143</c:v>
                </c:pt>
                <c:pt idx="2">
                  <c:v>0.154</c:v>
                </c:pt>
                <c:pt idx="3">
                  <c:v>0.201</c:v>
                </c:pt>
                <c:pt idx="4">
                  <c:v>0.204</c:v>
                </c:pt>
              </c:numCache>
            </c:numRef>
          </c:val>
        </c:ser>
        <c:dLbls>
          <c:numFmt formatCode="0.0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0.25"/>
          <c:min val="0"/>
        </c:scaling>
        <c:delete val="0"/>
        <c:axPos val="b"/>
        <c:majorGridlines>
          <c:spPr>
            <a:ln w="6350" cap="flat">
              <a:solidFill>
                <a:srgbClr val="E3E6EA"/>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Calibri"/>
              </a:defRPr>
            </a:pPr>
            <a:r>
              <a:rPr sz="1300" b="0" i="0" u="none" strike="noStrike">
                <a:solidFill>
                  <a:srgbClr val="1B2A4A"/>
                </a:solidFill>
                <a:latin typeface="Calibri"/>
              </a:rPr>
              <a:t>Bytes exchanged for one key establishment (public key + ciphertext)</a:t>
            </a:r>
          </a:p>
        </c:rich>
      </c:tx>
      <c:layout/>
      <c:overlay val="0"/>
    </c:title>
    <c:autoTitleDeleted val="0"/>
    <c:plotArea>
      <c:layout/>
      <c:barChart>
        <c:barDir val="bar"/>
        <c:grouping val="clustered"/>
        <c:varyColors val="0"/>
        <c:ser>
          <c:idx val="0"/>
          <c:order val="0"/>
          <c:tx>
            <c:strRef>
              <c:f>Sheet1!$B$1</c:f>
              <c:strCache>
                <c:ptCount val="1"/>
                <c:pt idx="0">
                  <c:v>Bytes</c:v>
                </c:pt>
              </c:strCache>
            </c:strRef>
          </c:tx>
          <c:spPr>
            <a:solidFill>
              <a:srgbClr val="A7AFBB"/>
            </a:solidFill>
            <a:effectLst/>
          </c:spPr>
          <c:invertIfNegative val="0"/>
          <c:dLbls>
            <c:numFmt formatCode="#,##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dPt>
            <c:idx val="0"/>
            <c:invertIfNegative val="0"/>
            <c:bubble3D val="0"/>
            <c:spPr>
              <a:solidFill>
                <a:srgbClr val="A7AFBB"/>
              </a:solidFill>
              <a:effectLst/>
            </c:spPr>
          </c:dPt>
          <c:dPt>
            <c:idx val="1"/>
            <c:invertIfNegative val="0"/>
            <c:bubble3D val="0"/>
            <c:spPr>
              <a:solidFill>
                <a:srgbClr val="A7AFBB"/>
              </a:solidFill>
              <a:effectLst/>
            </c:spPr>
          </c:dPt>
          <c:dPt>
            <c:idx val="2"/>
            <c:invertIfNegative val="0"/>
            <c:bubble3D val="0"/>
            <c:spPr>
              <a:solidFill>
                <a:srgbClr val="1B2A4A"/>
              </a:solidFill>
              <a:effectLst/>
            </c:spPr>
          </c:dPt>
          <c:dPt>
            <c:idx val="3"/>
            <c:invertIfNegative val="0"/>
            <c:bubble3D val="0"/>
            <c:spPr>
              <a:solidFill>
                <a:srgbClr val="1B2A4A"/>
              </a:solidFill>
              <a:effectLst/>
            </c:spPr>
          </c:dPt>
          <c:dPt>
            <c:idx val="4"/>
            <c:invertIfNegative val="0"/>
            <c:bubble3D val="0"/>
            <c:spPr>
              <a:solidFill>
                <a:srgbClr val="1B2A4A"/>
              </a:solidFill>
              <a:effectLst/>
            </c:spPr>
          </c:dPt>
          <c:dPt>
            <c:idx val="5"/>
            <c:invertIfNegative val="0"/>
            <c:bubble3D val="0"/>
            <c:spPr>
              <a:solidFill>
                <a:srgbClr val="1B2A4A"/>
              </a:solidFill>
              <a:effectLst/>
            </c:spPr>
          </c:dPt>
          <c:cat>
            <c:multiLvlStrRef>
              <c:f>Sheet1!$A$2:$A$7</c:f>
              <c:multiLvlStrCache>
                <c:ptCount val="6"/>
                <c:lvl>
                  <c:pt idx="0">
                    <c:v>X25519</c:v>
                  </c:pt>
                  <c:pt idx="1">
                    <c:v>ECDH P-256</c:v>
                  </c:pt>
                  <c:pt idx="2">
                    <c:v>ML-KEM-512</c:v>
                  </c:pt>
                  <c:pt idx="3">
                    <c:v>ML-KEM-768</c:v>
                  </c:pt>
                  <c:pt idx="4">
                    <c:v>ML-KEM-1024</c:v>
                  </c:pt>
                  <c:pt idx="5">
                    <c:v>HQC-128</c:v>
                  </c:pt>
                </c:lvl>
              </c:multiLvlStrCache>
            </c:multiLvlStrRef>
          </c:cat>
          <c:val>
            <c:numRef>
              <c:f>Sheet1!$B$2:$B$7</c:f>
              <c:numCache>
                <c:formatCode>General</c:formatCode>
                <c:ptCount val="6"/>
                <c:pt idx="0">
                  <c:v>64</c:v>
                </c:pt>
                <c:pt idx="1">
                  <c:v>130</c:v>
                </c:pt>
                <c:pt idx="2">
                  <c:v>1568</c:v>
                </c:pt>
                <c:pt idx="3">
                  <c:v>2272</c:v>
                </c:pt>
                <c:pt idx="4">
                  <c:v>3136</c:v>
                </c:pt>
                <c:pt idx="5">
                  <c:v>6682</c:v>
                </c:pt>
              </c:numCache>
            </c:numRef>
          </c:val>
        </c:ser>
        <c:dLbls>
          <c:numFmt formatCode="#,##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8000"/>
          <c:min val="0"/>
        </c:scaling>
        <c:delete val="0"/>
        <c:axPos val="b"/>
        <c:majorGridlines>
          <c:spPr>
            <a:ln w="6350" cap="flat">
              <a:solidFill>
                <a:srgbClr val="E3E6EA"/>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Calibri"/>
              </a:defRPr>
            </a:pPr>
            <a:r>
              <a:rPr sz="1300" b="0" i="0" u="none" strike="noStrike">
                <a:solidFill>
                  <a:srgbClr val="1B2A4A"/>
                </a:solidFill>
                <a:latin typeface="Calibri"/>
              </a:rPr>
              <a:t>Signing time, median (ms, log scale); values in the table</a:t>
            </a:r>
          </a:p>
        </c:rich>
      </c:tx>
      <c:layout/>
      <c:overlay val="0"/>
    </c:title>
    <c:autoTitleDeleted val="0"/>
    <c:plotArea>
      <c:layout/>
      <c:barChart>
        <c:barDir val="bar"/>
        <c:grouping val="clustered"/>
        <c:varyColors val="0"/>
        <c:ser>
          <c:idx val="0"/>
          <c:order val="0"/>
          <c:tx>
            <c:strRef>
              <c:f>Sheet1!$B$1</c:f>
              <c:strCache>
                <c:ptCount val="1"/>
                <c:pt idx="0">
                  <c:v>Sign ms</c:v>
                </c:pt>
              </c:strCache>
            </c:strRef>
          </c:tx>
          <c:spPr>
            <a:solidFill>
              <a:srgbClr val="A7AFBB"/>
            </a:solidFill>
            <a:effectLst/>
          </c:spPr>
          <c:invertIfNegative val="0"/>
          <c:dLbls>
            <c:numFmt formatCode="#,##0" sourceLinked="0"/>
            <c:txPr>
              <a:bodyPr/>
              <a:lstStyle/>
              <a:p>
                <a:pPr>
                  <a:defRPr b="0" i="0" strike="noStrike" sz="1100" u="none">
                    <a:solidFill>
                      <a:srgbClr val="222222"/>
                    </a:solidFill>
                    <a:latin typeface="Calibri"/>
                  </a:defRPr>
                </a:pPr>
              </a:p>
            </c:txPr>
            <c:showLegendKey val="0"/>
            <c:showVal val="0"/>
            <c:showCatName val="0"/>
            <c:showSerName val="0"/>
            <c:showPercent val="0"/>
            <c:showBubbleSize val="0"/>
            <c:showLeaderLines val="0"/>
          </c:dLbls>
          <c:dPt>
            <c:idx val="0"/>
            <c:invertIfNegative val="0"/>
            <c:bubble3D val="0"/>
            <c:spPr>
              <a:solidFill>
                <a:srgbClr val="A7AFBB"/>
              </a:solidFill>
              <a:effectLst/>
            </c:spPr>
          </c:dPt>
          <c:dPt>
            <c:idx val="1"/>
            <c:invertIfNegative val="0"/>
            <c:bubble3D val="0"/>
            <c:spPr>
              <a:solidFill>
                <a:srgbClr val="1B2A4A"/>
              </a:solidFill>
              <a:effectLst/>
            </c:spPr>
          </c:dPt>
          <c:dPt>
            <c:idx val="2"/>
            <c:invertIfNegative val="0"/>
            <c:bubble3D val="0"/>
            <c:spPr>
              <a:solidFill>
                <a:srgbClr val="1B2A4A"/>
              </a:solidFill>
              <a:effectLst/>
            </c:spPr>
          </c:dPt>
          <c:dPt>
            <c:idx val="3"/>
            <c:invertIfNegative val="0"/>
            <c:bubble3D val="0"/>
            <c:spPr>
              <a:solidFill>
                <a:srgbClr val="1B2A4A"/>
              </a:solidFill>
              <a:effectLst/>
            </c:spPr>
          </c:dPt>
          <c:dPt>
            <c:idx val="4"/>
            <c:invertIfNegative val="0"/>
            <c:bubble3D val="0"/>
            <c:spPr>
              <a:solidFill>
                <a:srgbClr val="1B2A4A"/>
              </a:solidFill>
              <a:effectLst/>
            </c:spPr>
          </c:dPt>
          <c:dPt>
            <c:idx val="5"/>
            <c:invertIfNegative val="0"/>
            <c:bubble3D val="0"/>
            <c:spPr>
              <a:solidFill>
                <a:srgbClr val="1B2A4A"/>
              </a:solidFill>
              <a:effectLst/>
            </c:spPr>
          </c:dPt>
          <c:cat>
            <c:multiLvlStrRef>
              <c:f>Sheet1!$A$2:$A$7</c:f>
              <c:multiLvlStrCache>
                <c:ptCount val="6"/>
                <c:lvl>
                  <c:pt idx="0">
                    <c:v>Ed25519 †</c:v>
                  </c:pt>
                  <c:pt idx="1">
                    <c:v>ML-DSA-44</c:v>
                  </c:pt>
                  <c:pt idx="2">
                    <c:v>ML-DSA-65</c:v>
                  </c:pt>
                  <c:pt idx="3">
                    <c:v>Falcon-512</c:v>
                  </c:pt>
                  <c:pt idx="4">
                    <c:v>SPHINCS+-128f</c:v>
                  </c:pt>
                  <c:pt idx="5">
                    <c:v>SPHINCS+-128s</c:v>
                  </c:pt>
                </c:lvl>
              </c:multiLvlStrCache>
            </c:multiLvlStrRef>
          </c:cat>
          <c:val>
            <c:numRef>
              <c:f>Sheet1!$B$2:$B$7</c:f>
              <c:numCache>
                <c:formatCode>General</c:formatCode>
                <c:ptCount val="6"/>
                <c:pt idx="0">
                  <c:v>0.053</c:v>
                </c:pt>
                <c:pt idx="1">
                  <c:v>0.572</c:v>
                </c:pt>
                <c:pt idx="2">
                  <c:v>0.872</c:v>
                </c:pt>
                <c:pt idx="3">
                  <c:v>6.414</c:v>
                </c:pt>
                <c:pt idx="4">
                  <c:v>60.46</c:v>
                </c:pt>
                <c:pt idx="5">
                  <c:v>1189</c:v>
                </c:pt>
              </c:numCache>
            </c:numRef>
          </c:val>
        </c:ser>
        <c:dLbls>
          <c:numFmt formatCode="#,##0" sourceLinked="0"/>
          <c:txPr>
            <a:bodyPr/>
            <a:lstStyle/>
            <a:p>
              <a:pPr>
                <a:defRPr b="0" i="0" strike="noStrike" sz="1100" u="none">
                  <a:solidFill>
                    <a:srgbClr val="222222"/>
                  </a:solidFill>
                  <a:latin typeface="Calibri"/>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logBase val="10"/>
          <c:orientation val="minMax"/>
          <c:max val="10000"/>
          <c:min val="0.01"/>
        </c:scaling>
        <c:delete val="0"/>
        <c:axPos val="b"/>
        <c:majorGridlines>
          <c:spPr>
            <a:ln w="6350" cap="flat">
              <a:solidFill>
                <a:srgbClr val="E3E6EA"/>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Calibri"/>
              </a:defRPr>
            </a:pPr>
            <a:r>
              <a:rPr sz="1300" b="0" i="0" u="none" strike="noStrike">
                <a:solidFill>
                  <a:srgbClr val="1B2A4A"/>
                </a:solidFill>
                <a:latin typeface="Calibri"/>
              </a:rPr>
              <a:t>Experiment A: median rejection time (ns) vs correctly guessed leading bytes</a:t>
            </a:r>
          </a:p>
        </c:rich>
      </c:tx>
      <c:layout/>
      <c:overlay val="0"/>
    </c:title>
    <c:autoTitleDeleted val="0"/>
    <c:plotArea>
      <c:layout/>
      <c:scatterChart>
        <c:scatterStyle val="lineMarker"/>
        <c:varyColors val="0"/>
        <c:ser>
          <c:idx val="0"/>
          <c:order val="0"/>
          <c:tx>
            <c:strRef>
              <c:f>Sheet1!$B$1</c:f>
              <c:strCache>
                <c:ptCount val="1"/>
                <c:pt idx="0">
                  <c:v>Naive early-exit loop</c:v>
                </c:pt>
              </c:strCache>
            </c:strRef>
          </c:tx>
          <c:spPr>
            <a:solidFill>
              <a:srgbClr val="A23B2C"/>
            </a:solidFill>
            <a:ln w="25400" cap="flat">
              <a:solidFill>
                <a:srgbClr val="A23B2C"/>
              </a:solidFill>
              <a:prstDash val="solid"/>
              <a:round/>
            </a:ln>
            <a:effectLst/>
          </c:spPr>
          <c:marker>
            <c:symbol val="circle"/>
            <c:size val="6"/>
            <c:spPr>
              <a:solidFill>
                <a:srgbClr val="A23B2C"/>
              </a:solidFill>
              <a:ln w="9525" cap="flat">
                <a:solidFill>
                  <a:srgbClr val="A23B2C"/>
                </a:solidFill>
                <a:prstDash val="solid"/>
                <a:round/>
              </a:ln>
              <a:effectLst/>
            </c:spPr>
          </c:marker>
          <c:xVal>
            <c:numRef>
              <c:f>Sheet1!$A$2:$A$7</c:f>
              <c:numCache>
                <c:formatCode>General</c:formatCode>
                <c:ptCount val="6"/>
                <c:pt idx="0">
                  <c:v>0</c:v>
                </c:pt>
                <c:pt idx="1">
                  <c:v>4</c:v>
                </c:pt>
                <c:pt idx="2">
                  <c:v>8</c:v>
                </c:pt>
                <c:pt idx="3">
                  <c:v>16</c:v>
                </c:pt>
                <c:pt idx="4">
                  <c:v>24</c:v>
                </c:pt>
                <c:pt idx="5">
                  <c:v>31</c:v>
                </c:pt>
              </c:numCache>
            </c:numRef>
          </c:xVal>
          <c:yVal>
            <c:numRef>
              <c:f>Sheet1!$B$2:$B$7</c:f>
              <c:numCache>
                <c:formatCode>General</c:formatCode>
                <c:ptCount val="6"/>
                <c:pt idx="0">
                  <c:v>825</c:v>
                </c:pt>
                <c:pt idx="1">
                  <c:v>1107</c:v>
                </c:pt>
                <c:pt idx="2">
                  <c:v>1418</c:v>
                </c:pt>
                <c:pt idx="3">
                  <c:v>1940</c:v>
                </c:pt>
                <c:pt idx="4">
                  <c:v>2453</c:v>
                </c:pt>
                <c:pt idx="5">
                  <c:v>2906</c:v>
                </c:pt>
              </c:numCache>
            </c:numRef>
          </c:yVal>
          <c:smooth val="0"/>
        </c:ser>
        <c:ser>
          <c:idx val="1"/>
          <c:order val="1"/>
          <c:tx>
            <c:strRef>
              <c:f>Sheet1!$C$1</c:f>
              <c:strCache>
                <c:ptCount val="1"/>
                <c:pt idx="0">
                  <c:v>bytes == (memcmp)</c:v>
                </c:pt>
              </c:strCache>
            </c:strRef>
          </c:tx>
          <c:spPr>
            <a:solidFill>
              <a:srgbClr val="A7AFBB"/>
            </a:solidFill>
            <a:ln w="25400" cap="flat">
              <a:solidFill>
                <a:srgbClr val="A7AFBB"/>
              </a:solidFill>
              <a:prstDash val="solid"/>
              <a:round/>
            </a:ln>
            <a:effectLst/>
          </c:spPr>
          <c:marker>
            <c:symbol val="circle"/>
            <c:size val="6"/>
            <c:spPr>
              <a:solidFill>
                <a:srgbClr val="A7AFBB"/>
              </a:solidFill>
              <a:ln w="9525" cap="flat">
                <a:solidFill>
                  <a:srgbClr val="A7AFBB"/>
                </a:solidFill>
                <a:prstDash val="solid"/>
                <a:round/>
              </a:ln>
              <a:effectLst/>
            </c:spPr>
          </c:marker>
          <c:xVal>
            <c:numRef>
              <c:f>Sheet1!$A$2:$A$7</c:f>
              <c:numCache>
                <c:formatCode>General</c:formatCode>
                <c:ptCount val="6"/>
                <c:pt idx="0">
                  <c:v>0</c:v>
                </c:pt>
                <c:pt idx="1">
                  <c:v>4</c:v>
                </c:pt>
                <c:pt idx="2">
                  <c:v>8</c:v>
                </c:pt>
                <c:pt idx="3">
                  <c:v>16</c:v>
                </c:pt>
                <c:pt idx="4">
                  <c:v>24</c:v>
                </c:pt>
                <c:pt idx="5">
                  <c:v>31</c:v>
                </c:pt>
              </c:numCache>
            </c:numRef>
          </c:xVal>
          <c:yVal>
            <c:numRef>
              <c:f>Sheet1!$C$2:$C$7</c:f>
              <c:numCache>
                <c:formatCode>General</c:formatCode>
                <c:ptCount val="6"/>
                <c:pt idx="0">
                  <c:v>351</c:v>
                </c:pt>
                <c:pt idx="1">
                  <c:v>367</c:v>
                </c:pt>
                <c:pt idx="2">
                  <c:v>368</c:v>
                </c:pt>
                <c:pt idx="3">
                  <c:v>368</c:v>
                </c:pt>
                <c:pt idx="4">
                  <c:v>367</c:v>
                </c:pt>
                <c:pt idx="5">
                  <c:v>369</c:v>
                </c:pt>
              </c:numCache>
            </c:numRef>
          </c:yVal>
          <c:smooth val="0"/>
        </c:ser>
        <c:ser>
          <c:idx val="2"/>
          <c:order val="2"/>
          <c:tx>
            <c:strRef>
              <c:f>Sheet1!$D$1</c:f>
              <c:strCache>
                <c:ptCount val="1"/>
                <c:pt idx="0">
                  <c:v>hmac.compare_digest</c:v>
                </c:pt>
              </c:strCache>
            </c:strRef>
          </c:tx>
          <c:spPr>
            <a:solidFill>
              <a:srgbClr val="1B2A4A"/>
            </a:solidFill>
            <a:ln w="25400" cap="flat">
              <a:solidFill>
                <a:srgbClr val="1B2A4A"/>
              </a:solidFill>
              <a:prstDash val="solid"/>
              <a:round/>
            </a:ln>
            <a:effectLst/>
          </c:spPr>
          <c:marker>
            <c:symbol val="circle"/>
            <c:size val="6"/>
            <c:spPr>
              <a:solidFill>
                <a:srgbClr val="1B2A4A"/>
              </a:solidFill>
              <a:ln w="9525" cap="flat">
                <a:solidFill>
                  <a:srgbClr val="1B2A4A"/>
                </a:solidFill>
                <a:prstDash val="solid"/>
                <a:round/>
              </a:ln>
              <a:effectLst/>
            </c:spPr>
          </c:marker>
          <c:xVal>
            <c:numRef>
              <c:f>Sheet1!$A$2:$A$7</c:f>
              <c:numCache>
                <c:formatCode>General</c:formatCode>
                <c:ptCount val="6"/>
                <c:pt idx="0">
                  <c:v>0</c:v>
                </c:pt>
                <c:pt idx="1">
                  <c:v>4</c:v>
                </c:pt>
                <c:pt idx="2">
                  <c:v>8</c:v>
                </c:pt>
                <c:pt idx="3">
                  <c:v>16</c:v>
                </c:pt>
                <c:pt idx="4">
                  <c:v>24</c:v>
                </c:pt>
                <c:pt idx="5">
                  <c:v>31</c:v>
                </c:pt>
              </c:numCache>
            </c:numRef>
          </c:xVal>
          <c:yVal>
            <c:numRef>
              <c:f>Sheet1!$D$2:$D$7</c:f>
              <c:numCache>
                <c:formatCode>General</c:formatCode>
                <c:ptCount val="6"/>
                <c:pt idx="0">
                  <c:v>433</c:v>
                </c:pt>
                <c:pt idx="1">
                  <c:v>432</c:v>
                </c:pt>
                <c:pt idx="2">
                  <c:v>432</c:v>
                </c:pt>
                <c:pt idx="3">
                  <c:v>433</c:v>
                </c:pt>
                <c:pt idx="4">
                  <c:v>433</c:v>
                </c:pt>
                <c:pt idx="5">
                  <c:v>433</c:v>
                </c:pt>
              </c:numCache>
            </c:numRef>
          </c:yVal>
          <c:smooth val="0"/>
        </c:ser>
        <c:dLbls>
          <c:numFmt formatCode="General" sourceLinked="0"/>
          <c:txPr>
            <a:bodyPr/>
            <a:lstStyle/>
            <a:p>
              <a:pPr>
                <a:defRPr b="0" i="0" strike="noStrike" sz="1100" u="none">
                  <a:solidFill>
                    <a:srgbClr val="222222"/>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1100" b="0" i="0" u="none" strike="noStrike">
                    <a:solidFill>
                      <a:srgbClr val="5F6B7A"/>
                    </a:solidFill>
                    <a:latin typeface="Arial"/>
                  </a:defRPr>
                </a:pPr>
                <a:r>
                  <a:rPr sz="1100" b="0" i="0" u="none" strike="noStrike">
                    <a:solidFill>
                      <a:srgbClr val="5F6B7A"/>
                    </a:solidFill>
                    <a:latin typeface="Arial"/>
                  </a:rPr>
                  <a:t>matching prefix length (bytes)</a:t>
                </a:r>
              </a:p>
            </c:rich>
          </c:tx>
          <c:layout/>
          <c:overlay val="0"/>
        </c:title>
        <c:numFmt formatCode="#,##0"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valAx>
      <c:valAx>
        <c:axId val="2094734552"/>
        <c:scaling>
          <c:orientation val="minMax"/>
          <c:max val="3200"/>
          <c:min val="0"/>
        </c:scaling>
        <c:delete val="0"/>
        <c:axPos val="l"/>
        <c:majorGridlines>
          <c:spPr>
            <a:ln w="6350" cap="flat">
              <a:solidFill>
                <a:srgbClr val="E3E6EA"/>
              </a:solidFill>
              <a:prstDash val="solid"/>
              <a:round/>
            </a:ln>
          </c:spPr>
        </c:majorGridlines>
        <c:title>
          <c:tx>
            <c:rich>
              <a:bodyPr/>
              <a:lstStyle/>
              <a:p>
                <a:pPr>
                  <a:defRPr sz="1100" b="0" i="0" u="none" strike="noStrike">
                    <a:solidFill>
                      <a:srgbClr val="5F6B7A"/>
                    </a:solidFill>
                    <a:latin typeface="Arial"/>
                  </a:defRPr>
                </a:pPr>
                <a:r>
                  <a:rPr sz="1100" b="0" i="0" u="none" strike="noStrike">
                    <a:solidFill>
                      <a:srgbClr val="5F6B7A"/>
                    </a:solidFill>
                    <a:latin typeface="Arial"/>
                  </a:rPr>
                  <a:t>ns per call</a:t>
                </a:r>
              </a:p>
            </c:rich>
          </c:tx>
          <c:layout/>
          <c:overlay val="0"/>
        </c:title>
        <c:numFmt formatCode="#,##0"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4"/>
        <c:crosses val="autoZero"/>
        <c:crossBetween val="midCat"/>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Calibri"/>
              </a:defRPr>
            </a:pPr>
            <a:r>
              <a:rPr sz="1300" b="0" i="0" u="none" strike="noStrike">
                <a:solidFill>
                  <a:srgbClr val="1B2A4A"/>
                </a:solidFill>
                <a:latin typeface="Calibri"/>
              </a:rPr>
              <a:t>|Welch z| for the same decapsulation, by collection design</a:t>
            </a:r>
          </a:p>
        </c:rich>
      </c:tx>
      <c:layout/>
      <c:overlay val="0"/>
    </c:title>
    <c:autoTitleDeleted val="0"/>
    <c:plotArea>
      <c:layout/>
      <c:barChart>
        <c:barDir val="col"/>
        <c:grouping val="clustered"/>
        <c:varyColors val="0"/>
        <c:ser>
          <c:idx val="0"/>
          <c:order val="0"/>
          <c:tx>
            <c:strRef>
              <c:f>Sheet1!$B$1</c:f>
              <c:strCache>
                <c:ptCount val="1"/>
                <c:pt idx="0">
                  <c:v>|Welch z|</c:v>
                </c:pt>
              </c:strCache>
            </c:strRef>
          </c:tx>
          <c:spPr>
            <a:solidFill>
              <a:srgbClr val="1B2A4A"/>
            </a:solidFill>
            <a:effectLst/>
          </c:spPr>
          <c:invertIfNegative val="0"/>
          <c:dLbls>
            <c:numFmt formatCode="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Interleaved</c:v>
                  </c:pt>
                  <c:pt idx="1">
                    <c:v>Sequential (this run)</c:v>
                  </c:pt>
                  <c:pt idx="2">
                    <c:v>Sequential (earlier run)</c:v>
                  </c:pt>
                </c:lvl>
              </c:multiLvlStrCache>
            </c:multiLvlStrRef>
          </c:cat>
          <c:val>
            <c:numRef>
              <c:f>Sheet1!$B$2:$B$4</c:f>
              <c:numCache>
                <c:formatCode>General</c:formatCode>
                <c:ptCount val="3"/>
                <c:pt idx="0">
                  <c:v>0.3</c:v>
                </c:pt>
                <c:pt idx="1">
                  <c:v>4.7</c:v>
                </c:pt>
                <c:pt idx="2">
                  <c:v>18.9</c:v>
                </c:pt>
              </c:numCache>
            </c:numRef>
          </c:val>
        </c:ser>
        <c:dLbls>
          <c:numFmt formatCode="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Threshold |z| = 3</c:v>
                </c:pt>
              </c:strCache>
            </c:strRef>
          </c:tx>
          <c:spPr>
            <a:solidFill>
              <a:srgbClr val="A23B2C"/>
            </a:solidFill>
            <a:ln w="19050" cap="flat">
              <a:solidFill>
                <a:srgbClr val="A23B2C"/>
              </a:solidFill>
              <a:prstDash val="dash"/>
              <a:round/>
            </a:ln>
            <a:effectLst/>
          </c:spPr>
          <c:invertIfNegative val="0"/>
          <c:dLbls>
            <c:numFmt formatCode="0.0" sourceLinked="0"/>
            <c:txPr>
              <a:bodyPr/>
              <a:lstStyle/>
              <a:p>
                <a:pPr>
                  <a:defRPr b="0" i="0" strike="noStrike" sz="1100" u="none">
                    <a:solidFill>
                      <a:srgbClr val="222222"/>
                    </a:solidFill>
                    <a:latin typeface="Calibri"/>
                  </a:defRPr>
                </a:pPr>
              </a:p>
            </c:txPr>
            <c:showLegendKey val="0"/>
            <c:showVal val="0"/>
            <c:showCatName val="0"/>
            <c:showSerName val="0"/>
            <c:showPercent val="0"/>
            <c:showBubbleSize val="0"/>
            <c:showLeaderLines val="0"/>
          </c:dLbls>
          <c:marker>
            <c:symbol val="none"/>
            <c:size val="6"/>
            <c:spPr>
              <a:solidFill>
                <a:srgbClr val="A23B2C"/>
              </a:solidFill>
              <a:ln w="9525" cap="flat">
                <a:solidFill>
                  <a:srgbClr val="A23B2C"/>
                </a:solidFill>
                <a:prstDash val="solid"/>
                <a:round/>
              </a:ln>
              <a:effectLst/>
            </c:spPr>
          </c:marker>
          <c:cat>
            <c:multiLvlStrRef>
              <c:f>Sheet1!$A$2:$A$4</c:f>
              <c:multiLvlStrCache>
                <c:ptCount val="3"/>
                <c:lvl>
                  <c:pt idx="0">
                    <c:v>Interleaved</c:v>
                  </c:pt>
                  <c:pt idx="1">
                    <c:v>Sequential (this run)</c:v>
                  </c:pt>
                  <c:pt idx="2">
                    <c:v>Sequential (earlier run)</c:v>
                  </c:pt>
                </c:lvl>
              </c:multiLvlStrCache>
            </c:multiLvlStrRef>
          </c:cat>
          <c:val>
            <c:numRef>
              <c:f>Sheet1!$C$2:$C$4</c:f>
              <c:numCache>
                <c:formatCode>General</c:formatCode>
                <c:ptCount val="3"/>
                <c:pt idx="0">
                  <c:v>3</c:v>
                </c:pt>
                <c:pt idx="1">
                  <c:v>3</c:v>
                </c:pt>
                <c:pt idx="2">
                  <c:v>3</c:v>
                </c:pt>
              </c:numCache>
            </c:numRef>
          </c:val>
          <c:smooth val="0"/>
        </c:ser>
        <c:dLbls>
          <c:numFmt formatCode="0.0" sourceLinked="0"/>
          <c:txPr>
            <a:bodyPr/>
            <a:lstStyle/>
            <a:p>
              <a:pPr>
                <a:defRPr b="0" i="0" strike="noStrike" sz="1100" u="none">
                  <a:solidFill>
                    <a:srgbClr val="222222"/>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Calibri"/>
              </a:defRPr>
            </a:pPr>
            <a:r>
              <a:rPr sz="1300" b="0" i="0" u="none" strike="noStrike">
                <a:solidFill>
                  <a:srgbClr val="1B2A4A"/>
                </a:solidFill>
                <a:latin typeface="Calibri"/>
              </a:rPr>
              <a:t>Implied clock per reported latency (MHz)</a:t>
            </a:r>
          </a:p>
        </c:rich>
      </c:tx>
      <c:layout/>
      <c:overlay val="0"/>
    </c:title>
    <c:autoTitleDeleted val="0"/>
    <c:plotArea>
      <c:layout/>
      <c:barChart>
        <c:barDir val="col"/>
        <c:grouping val="clustered"/>
        <c:varyColors val="0"/>
        <c:ser>
          <c:idx val="0"/>
          <c:order val="0"/>
          <c:tx>
            <c:strRef>
              <c:f>Sheet1!$B$1</c:f>
              <c:strCache>
                <c:ptCount val="1"/>
                <c:pt idx="0">
                  <c:v>Implied clock (MHz)</c:v>
                </c:pt>
              </c:strCache>
            </c:strRef>
          </c:tx>
          <c:spPr>
            <a:solidFill>
              <a:srgbClr val="1B2A4A"/>
            </a:solidFill>
            <a:effectLst/>
          </c:spPr>
          <c:invertIfNegative val="0"/>
          <c:dLbls>
            <c:numFmt formatCode="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cat>
            <c:multiLvlStrRef>
              <c:f>Sheet1!$A$2:$A$5</c:f>
              <c:multiLvlStrCache>
                <c:ptCount val="4"/>
                <c:lvl>
                  <c:pt idx="0">
                    <c:v>Kyber encaps</c:v>
                  </c:pt>
                  <c:pt idx="1">
                    <c:v>Kyber decaps</c:v>
                  </c:pt>
                  <c:pt idx="2">
                    <c:v>Dilithium sign</c:v>
                  </c:pt>
                  <c:pt idx="3">
                    <c:v>Dilithium verify</c:v>
                  </c:pt>
                </c:lvl>
              </c:multiLvlStrCache>
            </c:multiLvlStrRef>
          </c:cat>
          <c:val>
            <c:numRef>
              <c:f>Sheet1!$B$2:$B$5</c:f>
              <c:numCache>
                <c:formatCode>General</c:formatCode>
                <c:ptCount val="4"/>
                <c:pt idx="0">
                  <c:v>25</c:v>
                </c:pt>
                <c:pt idx="1">
                  <c:v>28.7</c:v>
                </c:pt>
                <c:pt idx="2">
                  <c:v>188.7</c:v>
                </c:pt>
                <c:pt idx="3">
                  <c:v>57.3</c:v>
                </c:pt>
              </c:numCache>
            </c:numRef>
          </c:val>
        </c:ser>
        <c:dLbls>
          <c:numFmt formatCode="0.0" sourceLinked="0"/>
          <c:txPr>
            <a:bodyPr/>
            <a:lstStyle/>
            <a:p>
              <a:pPr>
                <a:defRPr b="0" i="0" strike="noStrike" sz="1100" u="none">
                  <a:solidFill>
                    <a:srgbClr val="222222"/>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Declared clock, 120 MHz</c:v>
                </c:pt>
              </c:strCache>
            </c:strRef>
          </c:tx>
          <c:spPr>
            <a:solidFill>
              <a:srgbClr val="A23B2C"/>
            </a:solidFill>
            <a:ln w="19050" cap="flat">
              <a:solidFill>
                <a:srgbClr val="A23B2C"/>
              </a:solidFill>
              <a:prstDash val="dash"/>
              <a:round/>
            </a:ln>
            <a:effectLst/>
          </c:spPr>
          <c:invertIfNegative val="0"/>
          <c:dLbls>
            <c:numFmt formatCode="0.0" sourceLinked="0"/>
            <c:txPr>
              <a:bodyPr/>
              <a:lstStyle/>
              <a:p>
                <a:pPr>
                  <a:defRPr b="0" i="0" strike="noStrike" sz="1100" u="none">
                    <a:solidFill>
                      <a:srgbClr val="222222"/>
                    </a:solidFill>
                    <a:latin typeface="Calibri"/>
                  </a:defRPr>
                </a:pPr>
              </a:p>
            </c:txPr>
            <c:showLegendKey val="0"/>
            <c:showVal val="0"/>
            <c:showCatName val="0"/>
            <c:showSerName val="0"/>
            <c:showPercent val="0"/>
            <c:showBubbleSize val="0"/>
            <c:showLeaderLines val="0"/>
          </c:dLbls>
          <c:marker>
            <c:symbol val="none"/>
            <c:size val="6"/>
            <c:spPr>
              <a:solidFill>
                <a:srgbClr val="A23B2C"/>
              </a:solidFill>
              <a:ln w="9525" cap="flat">
                <a:solidFill>
                  <a:srgbClr val="A23B2C"/>
                </a:solidFill>
                <a:prstDash val="solid"/>
                <a:round/>
              </a:ln>
              <a:effectLst/>
            </c:spPr>
          </c:marker>
          <c:cat>
            <c:multiLvlStrRef>
              <c:f>Sheet1!$A$2:$A$5</c:f>
              <c:multiLvlStrCache>
                <c:ptCount val="4"/>
                <c:lvl>
                  <c:pt idx="0">
                    <c:v>Kyber encaps</c:v>
                  </c:pt>
                  <c:pt idx="1">
                    <c:v>Kyber decaps</c:v>
                  </c:pt>
                  <c:pt idx="2">
                    <c:v>Dilithium sign</c:v>
                  </c:pt>
                  <c:pt idx="3">
                    <c:v>Dilithium verify</c:v>
                  </c:pt>
                </c:lvl>
              </c:multiLvlStrCache>
            </c:multiLvlStrRef>
          </c:cat>
          <c:val>
            <c:numRef>
              <c:f>Sheet1!$C$2:$C$5</c:f>
              <c:numCache>
                <c:formatCode>General</c:formatCode>
                <c:ptCount val="4"/>
                <c:pt idx="0">
                  <c:v>120</c:v>
                </c:pt>
                <c:pt idx="1">
                  <c:v>120</c:v>
                </c:pt>
                <c:pt idx="2">
                  <c:v>120</c:v>
                </c:pt>
                <c:pt idx="3">
                  <c:v>120</c:v>
                </c:pt>
              </c:numCache>
            </c:numRef>
          </c:val>
          <c:smooth val="0"/>
        </c:ser>
        <c:dLbls>
          <c:numFmt formatCode="0.0" sourceLinked="0"/>
          <c:txPr>
            <a:bodyPr/>
            <a:lstStyle/>
            <a:p>
              <a:pPr>
                <a:defRPr b="0" i="0" strike="noStrike" sz="1100" u="none">
                  <a:solidFill>
                    <a:srgbClr val="222222"/>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Calibri"/>
              </a:defRPr>
            </a:pPr>
            <a:endParaRPr lang="en-US"/>
          </a:p>
        </c:txPr>
        <c:crossAx val="2094734552"/>
        <c:crosses val="autoZero"/>
        <c:auto val="1"/>
        <c:lblAlgn val="ctr"/>
        <c:noMultiLvlLbl val="1"/>
      </c:catAx>
      <c:valAx>
        <c:axId val="2094734552"/>
        <c:scaling>
          <c:orientation val="minMax"/>
          <c:max val="220"/>
          <c:min val="0"/>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I took a published post-quantum IoT security framework, replaced its simulated performance numbers with real measurements, and extended it in four directions the paper leaves out. Review 1 was the proposal; Review 2 shows that all five planned phases are implemented and producing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the talk follows the gap register. Each phase is shown as method, then code, then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paper's design is reasonable: Kyber, Dilithium, AES-GCM and a blockchain for identity. The weakness is the evaluation. It is simulation-only, and although it names PQClean and liboqs as libraries, it never says how the latencies were measured. Use the words 'unverifiable' and 'internally inconsistent', never 'wrong' or 'fabricated'. Each gap maps to one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Three parts. One: once you measure real code, PQC is not computationally expensive on CPU-class hardware; the cost is the size of keys and ciphertexts on a constrained radio. Two: adding classical protection on top of PQ costs 64 bytes, so the paper's pure-PQ choice is hard to justify. Three: the paper's own latencies cannot all be measurements of one device, shown by a clock-independent test. The side-channel and forward-secrecy work adds dimensions the paper does not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promised five phases, one per gap. All five are coded, run end to end and produce CSV datasets. Figures are generated from the CSVs by plot_results.py, and a verifier checks every number in the report against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stages left to right. (1) Problem framing: critical reading of the paper and a six-thread literature survey produced the gap register G1 to G5; G6 was found during review. (2) Instruments: PQClean through pqcrypto, OpenSSL through cryptography, pqm4 cycle counts, RFC 7228 and IEEE 802.15.4. (3) Five phases, each tagged with the gap it closes, each producing a measured quantity and a CSV; all share one controlled measurement protocol, the direct answer to G2. (4) Validation: calibration rows, byte-accounting self-test, eight security assertions, the sequential negative control, the report-to-CSV verifier and an adversarial review. (5) Synthesis: findings feed the RFC 7228 matrix and the deployment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Python, no framework. Each script reads its inputs and writes a CSV, so any phase can be re-run and audited on its own. pqcrypto wraps PQClean, the same reference code the base paper cites. Fairness caveat: classical code is optimised assembly and PQ is portable C, so every gap reported is an upper bound on PQ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G2. Walk the five numbered comments. Fast operations are timed k at a time and divided, because one timer call on a 64 µs operation mostly measures timer granularity. k is derived from a measured estimate. GC is disabled inside the loop. The loop stops on both a sample count and a time budget, so slow schemes get fewer samples (SPHINCS+-128s gets 15) and the CSV records it. bench_pq_kem() asserts decapsulation round-trips first, because ML-KEM's implicit rejection silently returns wrong bytes instead of raising.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laptop CPU, lattice key establishment costs about the same as ECDH. If asked about the anomaly: our ML-KEM decapsulation (0.064 ms) measures faster than encapsulation, the wrong way round; pqm4 shows decaps slower (888,653 vs 700,605 cycles). It is a binding-level artefact (randomness drawn inside the C library). We report it and use pqm4 cycle counts for sub-millisecond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reframing: every post-quantum object fragments on an 802.15.4 radio, and on a constrained radio fragmentation is the binding constraint, not CPU time. ML-KEM-512 public key is 800 B; its ciphertext is 768 B. Never quote one Falcon length as exact.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paper fixes on Dilithium2 without comparison. The data shows no family wins on every axis, so the choice should depend on the device's role: sign-heavy or verify-heavy.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generates ephemeral X25519 and ML-KEM keys and sends both public keys. The server does the X25519 exchange and ML-KEM encapsulation and returns its X25519 public key and the ciphertext. Both sides hash the transcript and derive K. Each side then sends an AES-256-GCM finished message encrypting the transcript under K. Any tampered byte changes the transcript, the tag fails, and the handshake aborts. Byte counts are exact because every message is length-prefixed.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trap: the combiner's security rests on random-oracle / PRF indistinguishability plus ciphertext binding, not on preimage resistance. Explain each hashed input: the label separates this use of SHA3 from any other; mode and level stop downgrade; both secrets are needed; the transcript binds both ciphertexts. The finished messages give key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that answers G1 is hybrid-768 against pure-768. The self-test shows the instrumentation is correct. Can be demonstrated live with two terminals.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experiments. A: three comparison functions timed against candidate tags that match the secret in exactly p leading bytes. B: ML-KEM decapsulation on valid, flipped and random ciphertexts; a timing difference would be a decryption oracle, the class of bug KyberSlash exploited. Inputs come from pools prepared outside the timed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loop is a working oracle. hmac.compare_digest is flat. ML-KEM's implicit-rejection path is constant-time at desktop resolution. Limitation: black-box timing resolves hundreds of nanoseconds; it cannot detect few-cycle leaks such as KyberSlash, and no such claim is made. Constant-time is required for every operation that touches secrets; signature verification is the exception because its inputs are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flawed design reports a significant leak (z = 4.7, above the threshold of 3) for an effect the correct design shows to be 5 ns on an 86 µs operation; an earlier control run reached z of -18.9 in magnitude. This ties the side-channel work back to G2.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compare the paper's milliseconds with pqm4 milliseconds: pqm4 reports at 24 MHz, the paper declares 120 MHz, so that comparison is a clock mismatch. Dividing cycles by the paper's time gives the clock each figure would require. Dilithium2 signing is the outlier; it is the one operation with data-dependent cost (rejection sampling), which a fixed-cost timing model would under-count. Offer that as a hypothesis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post-quantum runs on Class 0 alone. Class 1 can do ML-KEM-512 and Falcon verification. Class 2, where the paper's node sits, can run the full stack including the hybrid. Anything that signs slowly belongs on a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secrecy means compromising long-term keys does not expose past session keys. That needs ephemeral keys. The paper uses a static pre-computed KEM keypair per device, so its claim cannot hold. Our handshake is ephemeral on both legs, so it demonstrates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critique of the base paper is methodological, the project holds itself to the same standard. The test module checks key agreement, fail-closed behaviour, that both secrets matter, the hybrid property and downgrade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row. These are intermediate: the run was taken with a browser open, which slows every timing by about 1.6x uniformly. All conclusions are ratios and deltas, so they are not expected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limitations before the faculty asks. Construction is complete; what remains is measurement hygiene, comparison, an energy estimate and the final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run the two-terminal demo: the client prints mode, latency and bytes each way. Then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549640" y="0"/>
            <a:ext cx="3642055" cy="6858000"/>
          </a:xfrm>
          <a:prstGeom prst="rect">
            <a:avLst/>
          </a:prstGeom>
          <a:solidFill>
            <a:srgbClr val="1B2A4A"/>
          </a:solidFill>
          <a:ln/>
        </p:spPr>
      </p:sp>
      <p:sp>
        <p:nvSpPr>
          <p:cNvPr id="3" name="Text 1"/>
          <p:cNvSpPr txBox="1"/>
          <p:nvPr/>
        </p:nvSpPr>
        <p:spPr>
          <a:xfrm>
            <a:off x="548640" y="548640"/>
            <a:ext cx="7589520" cy="548640"/>
          </a:xfrm>
          <a:prstGeom prst="rect">
            <a:avLst/>
          </a:prstGeom>
          <a:noFill/>
          <a:ln/>
        </p:spPr>
        <p:txBody>
          <a:bodyPr wrap="square" lIns="0" tIns="0" rIns="0" bIns="0" rtlCol="0" anchor="t"/>
          <a:lstStyle/>
          <a:p>
            <a:pPr indent="0" marL="0">
              <a:buNone/>
            </a:pPr>
            <a:r>
              <a:rPr lang="en-US" sz="1300" dirty="0">
                <a:solidFill>
                  <a:srgbClr val="5F6B7A"/>
                </a:solidFill>
                <a:latin typeface="Calibri" pitchFamily="34" charset="0"/>
                <a:ea typeface="Calibri" pitchFamily="34" charset="-122"/>
                <a:cs typeface="Calibri" pitchFamily="34" charset="-120"/>
              </a:rPr>
              <a:t>Vellore Institute of Technology, Chennai</a:t>
            </a:r>
            <a:endParaRPr lang="en-US" sz="1300" dirty="0"/>
          </a:p>
          <a:p>
            <a:pPr indent="0" marL="0">
              <a:buNone/>
            </a:pPr>
            <a:r>
              <a:rPr lang="en-US" sz="1300" dirty="0">
                <a:solidFill>
                  <a:srgbClr val="5F6B7A"/>
                </a:solidFill>
                <a:latin typeface="Calibri" pitchFamily="34" charset="0"/>
                <a:ea typeface="Calibri" pitchFamily="34" charset="-122"/>
                <a:cs typeface="Calibri" pitchFamily="34" charset="-120"/>
              </a:rPr>
              <a:t>School of Computer Science and Engineering</a:t>
            </a:r>
            <a:endParaRPr lang="en-US" sz="1300" dirty="0"/>
          </a:p>
        </p:txBody>
      </p:sp>
      <p:sp>
        <p:nvSpPr>
          <p:cNvPr id="4" name="Text 2"/>
          <p:cNvSpPr txBox="1"/>
          <p:nvPr/>
        </p:nvSpPr>
        <p:spPr>
          <a:xfrm>
            <a:off x="548640" y="1600200"/>
            <a:ext cx="7498080" cy="1737360"/>
          </a:xfrm>
          <a:prstGeom prst="rect">
            <a:avLst/>
          </a:prstGeom>
          <a:noFill/>
          <a:ln/>
        </p:spPr>
        <p:txBody>
          <a:bodyPr wrap="square" lIns="0" tIns="0" rIns="0" bIns="0"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A Real-Measurement Reappraisal of Post-Quantum Cryptography for Constrained IoT</a:t>
            </a:r>
            <a:endParaRPr lang="en-US" sz="3600" dirty="0"/>
          </a:p>
        </p:txBody>
      </p:sp>
      <p:sp>
        <p:nvSpPr>
          <p:cNvPr id="5" name="Text 3"/>
          <p:cNvSpPr txBox="1"/>
          <p:nvPr/>
        </p:nvSpPr>
        <p:spPr>
          <a:xfrm>
            <a:off x="548640" y="3429000"/>
            <a:ext cx="7498080" cy="411480"/>
          </a:xfrm>
          <a:prstGeom prst="rect">
            <a:avLst/>
          </a:prstGeom>
          <a:noFill/>
          <a:ln/>
        </p:spPr>
        <p:txBody>
          <a:bodyPr wrap="square" lIns="0" tIns="0" rIns="0" bIns="0" rtlCol="0" anchor="t"/>
          <a:lstStyle/>
          <a:p>
            <a:pPr indent="0" marL="0">
              <a:buNone/>
            </a:pPr>
            <a:r>
              <a:rPr lang="en-US" sz="1800" dirty="0">
                <a:solidFill>
                  <a:srgbClr val="3A4556"/>
                </a:solidFill>
                <a:latin typeface="Calibri" pitchFamily="34" charset="0"/>
                <a:ea typeface="Calibri" pitchFamily="34" charset="-122"/>
                <a:cs typeface="Calibri" pitchFamily="34" charset="-120"/>
              </a:rPr>
              <a:t>Benchmarks, hybrid key exchange, timing analysis and device-class guidance</a:t>
            </a:r>
            <a:endParaRPr lang="en-US" sz="1800" dirty="0"/>
          </a:p>
        </p:txBody>
      </p:sp>
      <p:sp>
        <p:nvSpPr>
          <p:cNvPr id="6" name="Text 4"/>
          <p:cNvSpPr txBox="1"/>
          <p:nvPr/>
        </p:nvSpPr>
        <p:spPr>
          <a:xfrm>
            <a:off x="548640" y="4160520"/>
            <a:ext cx="7498080" cy="365760"/>
          </a:xfrm>
          <a:prstGeom prst="rect">
            <a:avLst/>
          </a:prstGeom>
          <a:noFill/>
          <a:ln/>
        </p:spPr>
        <p:txBody>
          <a:bodyPr wrap="square" lIns="0" tIns="0" rIns="0" bIns="0" rtlCol="0" anchor="t"/>
          <a:lstStyle/>
          <a:p>
            <a:pPr indent="0" marL="0">
              <a:buNone/>
            </a:pPr>
            <a:r>
              <a:rPr lang="en-US" sz="1600" b="1" dirty="0">
                <a:solidFill>
                  <a:srgbClr val="222222"/>
                </a:solidFill>
                <a:latin typeface="Calibri" pitchFamily="34" charset="0"/>
                <a:ea typeface="Calibri" pitchFamily="34" charset="-122"/>
                <a:cs typeface="Calibri" pitchFamily="34" charset="-120"/>
              </a:rPr>
              <a:t>Review 2: Implementation and intermediate results</a:t>
            </a:r>
            <a:endParaRPr lang="en-US" sz="1600" dirty="0"/>
          </a:p>
        </p:txBody>
      </p:sp>
      <p:sp>
        <p:nvSpPr>
          <p:cNvPr id="7" name="Text 5"/>
          <p:cNvSpPr txBox="1"/>
          <p:nvPr/>
        </p:nvSpPr>
        <p:spPr>
          <a:xfrm>
            <a:off x="548640" y="5120640"/>
            <a:ext cx="7498080" cy="640080"/>
          </a:xfrm>
          <a:prstGeom prst="rect">
            <a:avLst/>
          </a:prstGeom>
          <a:noFill/>
          <a:ln/>
        </p:spPr>
        <p:txBody>
          <a:bodyPr wrap="square" lIns="0" tIns="0" rIns="0" bIns="0" rtlCol="0" anchor="t"/>
          <a:lstStyle/>
          <a:p>
            <a:pPr indent="0" marL="0">
              <a:spcAft>
                <a:spcPts val="300"/>
              </a:spcAft>
              <a:buNone/>
            </a:pPr>
            <a:r>
              <a:rPr lang="en-US" sz="1300" b="1" dirty="0">
                <a:solidFill>
                  <a:srgbClr val="222222"/>
                </a:solidFill>
                <a:latin typeface="Calibri" pitchFamily="34" charset="0"/>
                <a:ea typeface="Calibri" pitchFamily="34" charset="-122"/>
                <a:cs typeface="Calibri" pitchFamily="34" charset="-120"/>
              </a:rPr>
              <a:t>Rakshit</a:t>
            </a:r>
            <a:endParaRPr lang="en-US" sz="1300" dirty="0"/>
          </a:p>
          <a:p>
            <a:pPr indent="0" marL="0">
              <a:spcAft>
                <a:spcPts val="300"/>
              </a:spcAft>
              <a:buNone/>
            </a:pPr>
            <a:r>
              <a:rPr lang="en-US" sz="1300" dirty="0">
                <a:solidFill>
                  <a:srgbClr val="222222"/>
                </a:solidFill>
                <a:latin typeface="Calibri" pitchFamily="34" charset="0"/>
                <a:ea typeface="Calibri" pitchFamily="34" charset="-122"/>
                <a:cs typeface="Calibri" pitchFamily="34" charset="-120"/>
              </a:rPr>
              <a:t>Faculty in charge: Prof. Karthika V, Assistant Professor, SCOPE</a:t>
            </a:r>
            <a:endParaRPr lang="en-US" sz="1300" dirty="0"/>
          </a:p>
        </p:txBody>
      </p:sp>
      <p:sp>
        <p:nvSpPr>
          <p:cNvPr id="8" name="Text 6"/>
          <p:cNvSpPr txBox="1"/>
          <p:nvPr/>
        </p:nvSpPr>
        <p:spPr>
          <a:xfrm>
            <a:off x="8961120" y="1600200"/>
            <a:ext cx="2743200" cy="4206240"/>
          </a:xfrm>
          <a:prstGeom prst="rect">
            <a:avLst/>
          </a:prstGeom>
          <a:noFill/>
          <a:ln/>
        </p:spPr>
        <p:txBody>
          <a:bodyPr wrap="square" lIns="0" tIns="0" rIns="0" bIns="0" rtlCol="0" anchor="t"/>
          <a:lstStyle/>
          <a:p>
            <a:pPr indent="0" marL="0">
              <a:spcAft>
                <a:spcPts val="200"/>
              </a:spcAft>
              <a:buNone/>
            </a:pPr>
            <a:r>
              <a:rPr lang="en-US" sz="1250" b="1" dirty="0">
                <a:solidFill>
                  <a:srgbClr val="E4E9F1"/>
                </a:solidFill>
                <a:latin typeface="Calibri" pitchFamily="34" charset="0"/>
                <a:ea typeface="Calibri" pitchFamily="34" charset="-122"/>
                <a:cs typeface="Calibri" pitchFamily="34" charset="-120"/>
              </a:rPr>
              <a:t>Cryptography and Network Security</a:t>
            </a:r>
            <a:endParaRPr lang="en-US" sz="1250" dirty="0"/>
          </a:p>
          <a:p>
            <a:pPr indent="0" marL="0">
              <a:spcAft>
                <a:spcPts val="200"/>
              </a:spcAft>
              <a:buNone/>
            </a:pPr>
            <a:r>
              <a:rPr lang="en-US" sz="1250" dirty="0">
                <a:solidFill>
                  <a:srgbClr val="E4E9F1"/>
                </a:solidFill>
                <a:latin typeface="Calibri" pitchFamily="34" charset="0"/>
                <a:ea typeface="Calibri" pitchFamily="34" charset="-122"/>
                <a:cs typeface="Calibri" pitchFamily="34" charset="-120"/>
              </a:rPr>
              <a:t>Mini Project</a:t>
            </a:r>
            <a:endParaRPr lang="en-US" sz="1250" dirty="0"/>
          </a:p>
          <a:p>
            <a:pPr indent="0" marL="0">
              <a:spcAft>
                <a:spcPts val="200"/>
              </a:spcAft>
              <a:buNone/>
            </a:pPr>
            <a:r>
              <a:rPr lang="en-US" sz="1250" dirty="0">
                <a:solidFill>
                  <a:srgbClr val="E4E9F1"/>
                </a:solidFill>
                <a:latin typeface="Calibri" pitchFamily="34" charset="0"/>
                <a:ea typeface="Calibri" pitchFamily="34" charset="-122"/>
                <a:cs typeface="Calibri" pitchFamily="34" charset="-120"/>
              </a:rPr>
              <a:t> </a:t>
            </a:r>
            <a:endParaRPr lang="en-US" sz="1250" dirty="0"/>
          </a:p>
          <a:p>
            <a:pPr indent="0" marL="0">
              <a:spcAft>
                <a:spcPts val="200"/>
              </a:spcAft>
              <a:buNone/>
            </a:pPr>
            <a:r>
              <a:rPr lang="en-US" sz="1250" b="1" dirty="0">
                <a:solidFill>
                  <a:srgbClr val="E4E9F1"/>
                </a:solidFill>
                <a:latin typeface="Calibri" pitchFamily="34" charset="0"/>
                <a:ea typeface="Calibri" pitchFamily="34" charset="-122"/>
                <a:cs typeface="Calibri" pitchFamily="34" charset="-120"/>
              </a:rPr>
              <a:t>Base paper</a:t>
            </a:r>
            <a:endParaRPr lang="en-US" sz="1250" dirty="0"/>
          </a:p>
          <a:p>
            <a:pPr indent="0" marL="0">
              <a:spcAft>
                <a:spcPts val="200"/>
              </a:spcAft>
              <a:buNone/>
            </a:pPr>
            <a:r>
              <a:rPr lang="en-US" sz="1250" dirty="0">
                <a:solidFill>
                  <a:srgbClr val="E4E9F1"/>
                </a:solidFill>
                <a:latin typeface="Calibri" pitchFamily="34" charset="0"/>
                <a:ea typeface="Calibri" pitchFamily="34" charset="-122"/>
                <a:cs typeface="Calibri" pitchFamily="34" charset="-120"/>
              </a:rPr>
              <a:t>Narayanan et al., “Quantum-Resilient IoT Communication Framework Using Post-Quantum Cryptography and Blockchain for Secure Edge Devices”, Iranian J. Sci. Technol. Trans. Electr. Eng. 50:203–221 (2026)</a:t>
            </a:r>
            <a:endParaRPr lang="en-US" sz="1250" dirty="0"/>
          </a:p>
          <a:p>
            <a:pPr indent="0" marL="0">
              <a:spcAft>
                <a:spcPts val="200"/>
              </a:spcAft>
              <a:buNone/>
            </a:pPr>
            <a:r>
              <a:rPr lang="en-US" sz="1250" dirty="0">
                <a:solidFill>
                  <a:srgbClr val="E4E9F1"/>
                </a:solidFill>
                <a:latin typeface="Calibri" pitchFamily="34" charset="0"/>
                <a:ea typeface="Calibri" pitchFamily="34" charset="-122"/>
                <a:cs typeface="Calibri" pitchFamily="34" charset="-120"/>
              </a:rPr>
              <a:t> </a:t>
            </a:r>
            <a:endParaRPr lang="en-US" sz="1250" dirty="0"/>
          </a:p>
          <a:p>
            <a:pPr indent="0" marL="0">
              <a:spcAft>
                <a:spcPts val="200"/>
              </a:spcAft>
              <a:buNone/>
            </a:pPr>
            <a:r>
              <a:rPr lang="en-US" sz="1250" dirty="0">
                <a:solidFill>
                  <a:srgbClr val="E4E9F1"/>
                </a:solidFill>
                <a:latin typeface="Calibri" pitchFamily="34" charset="0"/>
                <a:ea typeface="Calibri" pitchFamily="34" charset="-122"/>
                <a:cs typeface="Calibri" pitchFamily="34" charset="-120"/>
              </a:rPr>
              <a:t>September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Outline</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Structure of this review</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2</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8412480" cy="914400"/>
        </p:xfrm>
        <a:graphic>
          <a:graphicData uri="http://schemas.openxmlformats.org/drawingml/2006/table">
            <a:tbl>
              <a:tblPr/>
              <a:tblGrid>
                <a:gridCol w="640080"/>
                <a:gridCol w="6675120"/>
                <a:gridCol w="1097280"/>
              </a:tblGrid>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The base paper and its evaluation gaps</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The novel claim</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Scope and methodology</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5–6</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Implementation and measurement harness</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7–8</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Phases 1–2: primitive benchmarks and signature families</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9–11</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Phase 3: hybrid key exchange</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12–14</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Phase 4: timing side-channel analysis</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15–17</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Phase 5: Cortex-M4 bridge and device-class guidance</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18–19</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Forward secrecy, verification and findings</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20–22</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38912">
                <a:tc>
                  <a:txBody>
                    <a:bodyPr/>
                    <a:lstStyle/>
                    <a:p>
                      <a:pPr algn="l" indent="0" marL="0">
                        <a:buNone/>
                      </a:pPr>
                      <a:r>
                        <a:rPr lang="en-US" sz="1500" b="1" dirty="0">
                          <a:solidFill>
                            <a:srgbClr val="1B2A4A"/>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222"/>
                          </a:solidFill>
                          <a:latin typeface="Calibri" pitchFamily="34" charset="0"/>
                          <a:ea typeface="Calibri" pitchFamily="34" charset="-122"/>
                          <a:cs typeface="Calibri" pitchFamily="34" charset="-120"/>
                        </a:rPr>
                        <a:t>Limitations, plan for Review 3 and live demonstration</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500" dirty="0">
                          <a:solidFill>
                            <a:srgbClr val="5F6B7A"/>
                          </a:solidFill>
                          <a:latin typeface="Calibri" pitchFamily="34" charset="0"/>
                          <a:ea typeface="Calibri" pitchFamily="34" charset="-122"/>
                          <a:cs typeface="Calibri" pitchFamily="34" charset="-120"/>
                        </a:rPr>
                        <a:t>23–24</a:t>
                      </a:r>
                      <a:endParaRPr lang="en-US" sz="15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1  The base paper and its evaluation gaps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base paper has a sound design but an unverifiable evaluation</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Narayanan et al. (2026), DOI 10.1007/s40998-025-01002-1; §3.2, §3.6, §4.9, Tables 3 and 6</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3</a:t>
            </a:r>
            <a:endParaRPr lang="en-US" sz="950" dirty="0"/>
          </a:p>
        </p:txBody>
      </p:sp>
      <p:sp>
        <p:nvSpPr>
          <p:cNvPr id="7" name="Text 5"/>
          <p:cNvSpPr txBox="1"/>
          <p:nvPr/>
        </p:nvSpPr>
        <p:spPr>
          <a:xfrm>
            <a:off x="548640" y="1371600"/>
            <a:ext cx="4480560" cy="310896"/>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What PQShield-IoT proposes</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4480560" cy="914400"/>
        </p:xfrm>
        <a:graphic>
          <a:graphicData uri="http://schemas.openxmlformats.org/drawingml/2006/table">
            <a:tbl>
              <a:tblPr/>
              <a:tblGrid>
                <a:gridCol w="1417320"/>
                <a:gridCol w="3063240"/>
              </a:tblGrid>
              <a:tr h="457200">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Component</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Choice in the paper</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Key exchange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Kyber512 (now ML-KEM-512)</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Signatures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Dilithium2 (now ML-DSA-44)</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Data protection</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AES-256-GCM, SHA3-256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Device identity</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Permissioned blockchain</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Evaluation</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NS-3 / Contiki-NG simulation; emulated Cortex-M4F at 120 MHz</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486400" y="1371600"/>
            <a:ext cx="6156655" cy="310896"/>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Gaps in its evaluation, and where this project closes them</a:t>
            </a:r>
            <a:endParaRPr lang="en-US" sz="15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486400" y="1783080"/>
          <a:ext cx="6156655" cy="914400"/>
        </p:xfrm>
        <a:graphic>
          <a:graphicData uri="http://schemas.openxmlformats.org/drawingml/2006/table">
            <a:tbl>
              <a:tblPr/>
              <a:tblGrid>
                <a:gridCol w="594360"/>
                <a:gridCol w="4206240"/>
                <a:gridCol w="1353312"/>
              </a:tblGrid>
              <a:tr h="512064">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Gap</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Missing from the paper</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Closed by</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512064">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G1</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No hybrid key exchange; pure post-quantum only</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Phase 3</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G2</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Latencies simulated; no host, timer, repetition count or variance reported</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Phase 1; protocol in all</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G3</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One signature scheme; Falcon and SPHINCS+ never compared</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Phase 2</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G4</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No side-channel analysis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Phase 4</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G5</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No mapping from results to IoT device classes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Phase 5</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50" b="1" dirty="0">
                          <a:solidFill>
                            <a:srgbClr val="A23B2C"/>
                          </a:solidFill>
                          <a:latin typeface="Calibri" pitchFamily="34" charset="0"/>
                          <a:ea typeface="Calibri" pitchFamily="34" charset="-122"/>
                          <a:cs typeface="Calibri" pitchFamily="34" charset="-120"/>
                        </a:rPr>
                        <a:t>G6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Claims forward secrecy while using static KEM keys (found during review)</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Phase 3</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5486400" y="5532120"/>
            <a:ext cx="6156655" cy="27432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critique concerns the evaluation, not the cryptographic design.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2  The novel claim</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Measured on real code, post-quantum cost for IoT lies in bytes, not computation</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4</a:t>
            </a:r>
            <a:endParaRPr lang="en-US" sz="950" dirty="0"/>
          </a:p>
        </p:txBody>
      </p:sp>
      <p:sp>
        <p:nvSpPr>
          <p:cNvPr id="6" name="Shape 4"/>
          <p:cNvSpPr/>
          <p:nvPr/>
        </p:nvSpPr>
        <p:spPr>
          <a:xfrm>
            <a:off x="548640" y="1371600"/>
            <a:ext cx="11094415" cy="1325880"/>
          </a:xfrm>
          <a:prstGeom prst="rect">
            <a:avLst/>
          </a:prstGeom>
          <a:solidFill>
            <a:srgbClr val="E6EBF2"/>
          </a:solidFill>
          <a:ln/>
        </p:spPr>
      </p:sp>
      <p:sp>
        <p:nvSpPr>
          <p:cNvPr id="7" name="Text 5"/>
          <p:cNvSpPr txBox="1"/>
          <p:nvPr/>
        </p:nvSpPr>
        <p:spPr>
          <a:xfrm>
            <a:off x="868680" y="1481328"/>
            <a:ext cx="10454335" cy="1097280"/>
          </a:xfrm>
          <a:prstGeom prst="rect">
            <a:avLst/>
          </a:prstGeom>
          <a:noFill/>
          <a:ln/>
        </p:spPr>
        <p:txBody>
          <a:bodyPr wrap="square" lIns="0" tIns="0" rIns="0" bIns="0" rtlCol="0" anchor="ctr"/>
          <a:lstStyle/>
          <a:p>
            <a:pPr indent="0" marL="0">
              <a:buNone/>
            </a:pPr>
            <a:r>
              <a:rPr lang="en-US" sz="1900" b="1" dirty="0">
                <a:solidFill>
                  <a:srgbClr val="1B2A4A"/>
                </a:solidFill>
                <a:latin typeface="Calibri" pitchFamily="34" charset="0"/>
                <a:ea typeface="Calibri" pitchFamily="34" charset="-122"/>
                <a:cs typeface="Calibri" pitchFamily="34" charset="-120"/>
              </a:rPr>
              <a:t>Claim. </a:t>
            </a:r>
            <a:pPr indent="0" marL="0">
              <a:buNone/>
            </a:pPr>
            <a:r>
              <a:rPr lang="en-US" sz="1900" dirty="0">
                <a:solidFill>
                  <a:srgbClr val="1B2A4A"/>
                </a:solidFill>
                <a:latin typeface="Calibri" pitchFamily="34" charset="0"/>
                <a:ea typeface="Calibri" pitchFamily="34" charset="-122"/>
                <a:cs typeface="Calibri" pitchFamily="34" charset="-120"/>
              </a:rPr>
              <a:t>On real implementations, post-quantum cryptography's cost for IoT is </a:t>
            </a:r>
            <a:pPr indent="0" marL="0">
              <a:buNone/>
            </a:pPr>
            <a:r>
              <a:rPr lang="en-US" sz="1900" b="1" dirty="0">
                <a:solidFill>
                  <a:srgbClr val="1B2A4A"/>
                </a:solidFill>
                <a:latin typeface="Calibri" pitchFamily="34" charset="0"/>
                <a:ea typeface="Calibri" pitchFamily="34" charset="-122"/>
                <a:cs typeface="Calibri" pitchFamily="34" charset="-120"/>
              </a:rPr>
              <a:t>bytes on the wire, not computation</a:t>
            </a:r>
            <a:pPr indent="0" marL="0">
              <a:buNone/>
            </a:pPr>
            <a:r>
              <a:rPr lang="en-US" sz="1900" dirty="0">
                <a:solidFill>
                  <a:srgbClr val="1B2A4A"/>
                </a:solidFill>
                <a:latin typeface="Calibri" pitchFamily="34" charset="0"/>
                <a:ea typeface="Calibri" pitchFamily="34" charset="-122"/>
                <a:cs typeface="Calibri" pitchFamily="34" charset="-120"/>
              </a:rPr>
              <a:t>. Hybrid classical + post-quantum protection costs </a:t>
            </a:r>
            <a:pPr indent="0" marL="0">
              <a:buNone/>
            </a:pPr>
            <a:r>
              <a:rPr lang="en-US" sz="1900" b="1" dirty="0">
                <a:solidFill>
                  <a:srgbClr val="1B2A4A"/>
                </a:solidFill>
                <a:latin typeface="Calibri" pitchFamily="34" charset="0"/>
                <a:ea typeface="Calibri" pitchFamily="34" charset="-122"/>
                <a:cs typeface="Calibri" pitchFamily="34" charset="-120"/>
              </a:rPr>
              <a:t>only 64 extra bytes</a:t>
            </a:r>
            <a:pPr indent="0" marL="0">
              <a:buNone/>
            </a:pPr>
            <a:r>
              <a:rPr lang="en-US" sz="1900" dirty="0">
                <a:solidFill>
                  <a:srgbClr val="1B2A4A"/>
                </a:solidFill>
                <a:latin typeface="Calibri" pitchFamily="34" charset="0"/>
                <a:ea typeface="Calibri" pitchFamily="34" charset="-122"/>
                <a:cs typeface="Calibri" pitchFamily="34" charset="-120"/>
              </a:rPr>
              <a:t>, and the base paper's reported latencies are </a:t>
            </a:r>
            <a:pPr indent="0" marL="0">
              <a:buNone/>
            </a:pPr>
            <a:r>
              <a:rPr lang="en-US" sz="1900" b="1" dirty="0">
                <a:solidFill>
                  <a:srgbClr val="1B2A4A"/>
                </a:solidFill>
                <a:latin typeface="Calibri" pitchFamily="34" charset="0"/>
                <a:ea typeface="Calibri" pitchFamily="34" charset="-122"/>
                <a:cs typeface="Calibri" pitchFamily="34" charset="-120"/>
              </a:rPr>
              <a:t>internally inconsistent</a:t>
            </a:r>
            <a:pPr indent="0" marL="0">
              <a:buNone/>
            </a:pPr>
            <a:r>
              <a:rPr lang="en-US" sz="1900" dirty="0">
                <a:solidFill>
                  <a:srgbClr val="1B2A4A"/>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548640" y="3017520"/>
            <a:ext cx="3454298" cy="329184"/>
          </a:xfrm>
          <a:prstGeom prst="rect">
            <a:avLst/>
          </a:prstGeom>
          <a:noFill/>
          <a:ln/>
        </p:spPr>
        <p:txBody>
          <a:bodyPr wrap="square" lIns="0" tIns="0" rIns="0" bIns="0" rtlCol="0" anchor="t"/>
          <a:lstStyle/>
          <a:p>
            <a:pPr indent="0" marL="0">
              <a:buNone/>
            </a:pPr>
            <a:r>
              <a:rPr lang="en-US" sz="1550" b="1" dirty="0">
                <a:solidFill>
                  <a:srgbClr val="1B2A4A"/>
                </a:solidFill>
                <a:latin typeface="Calibri" pitchFamily="34" charset="0"/>
                <a:ea typeface="Calibri" pitchFamily="34" charset="-122"/>
                <a:cs typeface="Calibri" pitchFamily="34" charset="-120"/>
              </a:rPr>
              <a:t>1. Measured, not simulated</a:t>
            </a:r>
            <a:endParaRPr lang="en-US" sz="1550" dirty="0"/>
          </a:p>
        </p:txBody>
      </p:sp>
      <p:sp>
        <p:nvSpPr>
          <p:cNvPr id="9" name="Text 7"/>
          <p:cNvSpPr txBox="1"/>
          <p:nvPr/>
        </p:nvSpPr>
        <p:spPr>
          <a:xfrm>
            <a:off x="548640" y="3474720"/>
            <a:ext cx="3454298" cy="24688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16 schemes timed with a stated, reproducible method</a:t>
            </a:r>
            <a:endParaRPr lang="en-US" sz="1350" dirty="0"/>
          </a:p>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ML-KEM-512 encapsulation within 8% of optimised ECDH</a:t>
            </a:r>
            <a:endParaRPr lang="en-US" sz="1350" dirty="0"/>
          </a:p>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Clock-independent test: the paper's four latencies need four different CPU clocks (25–189 MHz)</a:t>
            </a:r>
            <a:endParaRPr lang="en-US" sz="1350" dirty="0"/>
          </a:p>
        </p:txBody>
      </p:sp>
      <p:sp>
        <p:nvSpPr>
          <p:cNvPr id="10" name="Text 8"/>
          <p:cNvSpPr txBox="1"/>
          <p:nvPr/>
        </p:nvSpPr>
        <p:spPr>
          <a:xfrm>
            <a:off x="4368698" y="3017520"/>
            <a:ext cx="3454298" cy="329184"/>
          </a:xfrm>
          <a:prstGeom prst="rect">
            <a:avLst/>
          </a:prstGeom>
          <a:noFill/>
          <a:ln/>
        </p:spPr>
        <p:txBody>
          <a:bodyPr wrap="square" lIns="0" tIns="0" rIns="0" bIns="0" rtlCol="0" anchor="t"/>
          <a:lstStyle/>
          <a:p>
            <a:pPr indent="0" marL="0">
              <a:buNone/>
            </a:pPr>
            <a:r>
              <a:rPr lang="en-US" sz="1550" b="1" dirty="0">
                <a:solidFill>
                  <a:srgbClr val="1B2A4A"/>
                </a:solidFill>
                <a:latin typeface="Calibri" pitchFamily="34" charset="0"/>
                <a:ea typeface="Calibri" pitchFamily="34" charset="-122"/>
                <a:cs typeface="Calibri" pitchFamily="34" charset="-120"/>
              </a:rPr>
              <a:t>2. Design spaces, not single choices</a:t>
            </a:r>
            <a:endParaRPr lang="en-US" sz="1550" dirty="0"/>
          </a:p>
        </p:txBody>
      </p:sp>
      <p:sp>
        <p:nvSpPr>
          <p:cNvPr id="11" name="Text 9"/>
          <p:cNvSpPr txBox="1"/>
          <p:nvPr/>
        </p:nvSpPr>
        <p:spPr>
          <a:xfrm>
            <a:off x="4368698" y="3474720"/>
            <a:ext cx="3454298" cy="24688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Classical vs pure post-quantum vs hybrid handshake over real TCP</a:t>
            </a:r>
            <a:endParaRPr lang="en-US" sz="1350" dirty="0"/>
          </a:p>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ML-DSA vs Falcon vs SPHINCS+, in time and in size</a:t>
            </a:r>
            <a:endParaRPr lang="en-US" sz="1350" dirty="0"/>
          </a:p>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RFC 7228 matrix: which scheme, in which role, on which device</a:t>
            </a:r>
            <a:endParaRPr lang="en-US" sz="1350" dirty="0"/>
          </a:p>
        </p:txBody>
      </p:sp>
      <p:sp>
        <p:nvSpPr>
          <p:cNvPr id="12" name="Text 10"/>
          <p:cNvSpPr txBox="1"/>
          <p:nvPr/>
        </p:nvSpPr>
        <p:spPr>
          <a:xfrm>
            <a:off x="8188757" y="3017520"/>
            <a:ext cx="3454298" cy="329184"/>
          </a:xfrm>
          <a:prstGeom prst="rect">
            <a:avLst/>
          </a:prstGeom>
          <a:noFill/>
          <a:ln/>
        </p:spPr>
        <p:txBody>
          <a:bodyPr wrap="square" lIns="0" tIns="0" rIns="0" bIns="0" rtlCol="0" anchor="t"/>
          <a:lstStyle/>
          <a:p>
            <a:pPr indent="0" marL="0">
              <a:buNone/>
            </a:pPr>
            <a:r>
              <a:rPr lang="en-US" sz="1550" b="1" dirty="0">
                <a:solidFill>
                  <a:srgbClr val="1B2A4A"/>
                </a:solidFill>
                <a:latin typeface="Calibri" pitchFamily="34" charset="0"/>
                <a:ea typeface="Calibri" pitchFamily="34" charset="-122"/>
                <a:cs typeface="Calibri" pitchFamily="34" charset="-120"/>
              </a:rPr>
              <a:t>3. Security the paper omits</a:t>
            </a:r>
            <a:endParaRPr lang="en-US" sz="1550" dirty="0"/>
          </a:p>
        </p:txBody>
      </p:sp>
      <p:sp>
        <p:nvSpPr>
          <p:cNvPr id="13" name="Text 11"/>
          <p:cNvSpPr txBox="1"/>
          <p:nvPr/>
        </p:nvSpPr>
        <p:spPr>
          <a:xfrm>
            <a:off x="8188757" y="3474720"/>
            <a:ext cx="3454298" cy="24688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Timing side-channel analysis with a methodological control</a:t>
            </a:r>
            <a:endParaRPr lang="en-US" sz="1350" dirty="0"/>
          </a:p>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Forward-secrecy claim contradicted by the paper's own static keys</a:t>
            </a:r>
            <a:endParaRPr lang="en-US" sz="1350" dirty="0"/>
          </a:p>
          <a:p>
            <a:pPr marL="203200" indent="-203200">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An ephemeral hybrid handshake that does provide forward secrecy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3  Scope and methodology</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Every phase proposed in Review 1 is implemented and producing data</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5</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48640"/>
                <a:gridCol w="2148840"/>
                <a:gridCol w="4754880"/>
                <a:gridCol w="2697480"/>
                <a:gridCol w="941832"/>
              </a:tblGrid>
              <a:tr h="475488">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Gap</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Implemented artefact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G2</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P1  Primitive benchmarks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benchmark_pqc.py: 16 schemes, adaptive batched timing, calibration rows, size capture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timings.csv, sizes.csv, system_info.txt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B45"/>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G3</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P2  Signature families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Same suite across ML-DSA, Falcon, SPHINCS+ at two levels each</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timings.csv, sizes.csv, fig2, fig4</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B45"/>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G1</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P3  Hybrid key exchange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hybrid_handshake.py: TCP client/server, 3 modes × 2 levels, AES-GCM key confirmation</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handshake_results.csv, fig5</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B45"/>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G4</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P4  Timing side-channel</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timing_analysis.py: interleaved and sequential collectors, two experiments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timing_analysis*.csv, fig6</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B45"/>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G5</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P5  Cortex-M4 bridge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pqm4_extrapolation.py: cycle-count join, implied-clock test, RFC 7228 matrix</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pqm4_comparison.csv, device_class_matrix.csv, fig7</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B45"/>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Verification</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test_handshake_security.py, verify_report_numbers.py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pass / fail</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2E6B45"/>
                          </a:solidFill>
                          <a:latin typeface="Calibri" pitchFamily="34" charset="0"/>
                          <a:ea typeface="Calibri" pitchFamily="34" charset="-122"/>
                          <a:cs typeface="Calibri" pitchFamily="34" charset="-120"/>
                        </a:rPr>
                        <a:t>Complete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983480"/>
            <a:ext cx="2036003" cy="502920"/>
          </a:xfrm>
          <a:prstGeom prst="rect">
            <a:avLst/>
          </a:prstGeom>
          <a:noFill/>
          <a:ln/>
        </p:spPr>
        <p:txBody>
          <a:bodyPr wrap="square" lIns="0" tIns="0" rIns="0" bIns="0" rtlCol="0" anchor="b"/>
          <a:lstStyle/>
          <a:p>
            <a:pPr indent="0" marL="0">
              <a:buNone/>
            </a:pPr>
            <a:r>
              <a:rPr lang="en-US" sz="2800" b="1" dirty="0">
                <a:solidFill>
                  <a:srgbClr val="1B2A4A"/>
                </a:solidFill>
                <a:latin typeface="Calibri" pitchFamily="34" charset="0"/>
                <a:ea typeface="Calibri" pitchFamily="34" charset="-122"/>
                <a:cs typeface="Calibri" pitchFamily="34" charset="-120"/>
              </a:rPr>
              <a:t>7</a:t>
            </a:r>
            <a:endParaRPr lang="en-US" sz="2800" dirty="0"/>
          </a:p>
        </p:txBody>
      </p:sp>
      <p:sp>
        <p:nvSpPr>
          <p:cNvPr id="8" name="Text 5"/>
          <p:cNvSpPr txBox="1"/>
          <p:nvPr/>
        </p:nvSpPr>
        <p:spPr>
          <a:xfrm>
            <a:off x="548640" y="5532120"/>
            <a:ext cx="2036003" cy="2743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Python modules</a:t>
            </a:r>
            <a:endParaRPr lang="en-US" sz="1200" dirty="0"/>
          </a:p>
        </p:txBody>
      </p:sp>
      <p:sp>
        <p:nvSpPr>
          <p:cNvPr id="9" name="Text 6"/>
          <p:cNvSpPr txBox="1"/>
          <p:nvPr/>
        </p:nvSpPr>
        <p:spPr>
          <a:xfrm>
            <a:off x="2767523" y="4983480"/>
            <a:ext cx="2036003" cy="502920"/>
          </a:xfrm>
          <a:prstGeom prst="rect">
            <a:avLst/>
          </a:prstGeom>
          <a:noFill/>
          <a:ln/>
        </p:spPr>
        <p:txBody>
          <a:bodyPr wrap="square" lIns="0" tIns="0" rIns="0" bIns="0" rtlCol="0" anchor="b"/>
          <a:lstStyle/>
          <a:p>
            <a:pPr indent="0" marL="0">
              <a:buNone/>
            </a:pPr>
            <a:r>
              <a:rPr lang="en-US" sz="2800" b="1" dirty="0">
                <a:solidFill>
                  <a:srgbClr val="1B2A4A"/>
                </a:solidFill>
                <a:latin typeface="Calibri" pitchFamily="34" charset="0"/>
                <a:ea typeface="Calibri" pitchFamily="34" charset="-122"/>
                <a:cs typeface="Calibri" pitchFamily="34" charset="-120"/>
              </a:rPr>
              <a:t>~1,890</a:t>
            </a:r>
            <a:endParaRPr lang="en-US" sz="2800" dirty="0"/>
          </a:p>
        </p:txBody>
      </p:sp>
      <p:sp>
        <p:nvSpPr>
          <p:cNvPr id="10" name="Text 7"/>
          <p:cNvSpPr txBox="1"/>
          <p:nvPr/>
        </p:nvSpPr>
        <p:spPr>
          <a:xfrm>
            <a:off x="2767523" y="5532120"/>
            <a:ext cx="2036003" cy="2743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lines of code</a:t>
            </a:r>
            <a:endParaRPr lang="en-US" sz="1200" dirty="0"/>
          </a:p>
        </p:txBody>
      </p:sp>
      <p:sp>
        <p:nvSpPr>
          <p:cNvPr id="11" name="Text 8"/>
          <p:cNvSpPr txBox="1"/>
          <p:nvPr/>
        </p:nvSpPr>
        <p:spPr>
          <a:xfrm>
            <a:off x="4986406" y="4983480"/>
            <a:ext cx="2036003" cy="502920"/>
          </a:xfrm>
          <a:prstGeom prst="rect">
            <a:avLst/>
          </a:prstGeom>
          <a:noFill/>
          <a:ln/>
        </p:spPr>
        <p:txBody>
          <a:bodyPr wrap="square" lIns="0" tIns="0" rIns="0" bIns="0" rtlCol="0" anchor="b"/>
          <a:lstStyle/>
          <a:p>
            <a:pPr indent="0" marL="0">
              <a:buNone/>
            </a:pPr>
            <a:r>
              <a:rPr lang="en-US" sz="2800" b="1" dirty="0">
                <a:solidFill>
                  <a:srgbClr val="1B2A4A"/>
                </a:solidFill>
                <a:latin typeface="Calibri" pitchFamily="34" charset="0"/>
                <a:ea typeface="Calibri" pitchFamily="34" charset="-122"/>
                <a:cs typeface="Calibri" pitchFamily="34" charset="-120"/>
              </a:rPr>
              <a:t>16</a:t>
            </a:r>
            <a:endParaRPr lang="en-US" sz="2800" dirty="0"/>
          </a:p>
        </p:txBody>
      </p:sp>
      <p:sp>
        <p:nvSpPr>
          <p:cNvPr id="12" name="Text 9"/>
          <p:cNvSpPr txBox="1"/>
          <p:nvPr/>
        </p:nvSpPr>
        <p:spPr>
          <a:xfrm>
            <a:off x="4986406" y="5532120"/>
            <a:ext cx="2036003" cy="2743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schemes benchmarked</a:t>
            </a:r>
            <a:endParaRPr lang="en-US" sz="1200" dirty="0"/>
          </a:p>
        </p:txBody>
      </p:sp>
      <p:sp>
        <p:nvSpPr>
          <p:cNvPr id="13" name="Text 10"/>
          <p:cNvSpPr txBox="1"/>
          <p:nvPr/>
        </p:nvSpPr>
        <p:spPr>
          <a:xfrm>
            <a:off x="7205289" y="4983480"/>
            <a:ext cx="2036003" cy="502920"/>
          </a:xfrm>
          <a:prstGeom prst="rect">
            <a:avLst/>
          </a:prstGeom>
          <a:noFill/>
          <a:ln/>
        </p:spPr>
        <p:txBody>
          <a:bodyPr wrap="square" lIns="0" tIns="0" rIns="0" bIns="0" rtlCol="0" anchor="b"/>
          <a:lstStyle/>
          <a:p>
            <a:pPr indent="0" marL="0">
              <a:buNone/>
            </a:pPr>
            <a:r>
              <a:rPr lang="en-US" sz="2800" b="1" dirty="0">
                <a:solidFill>
                  <a:srgbClr val="1B2A4A"/>
                </a:solidFill>
                <a:latin typeface="Calibri" pitchFamily="34" charset="0"/>
                <a:ea typeface="Calibri" pitchFamily="34" charset="-122"/>
                <a:cs typeface="Calibri" pitchFamily="34" charset="-120"/>
              </a:rPr>
              <a:t>9</a:t>
            </a:r>
            <a:endParaRPr lang="en-US" sz="2800" dirty="0"/>
          </a:p>
        </p:txBody>
      </p:sp>
      <p:sp>
        <p:nvSpPr>
          <p:cNvPr id="14" name="Text 11"/>
          <p:cNvSpPr txBox="1"/>
          <p:nvPr/>
        </p:nvSpPr>
        <p:spPr>
          <a:xfrm>
            <a:off x="7205289" y="5532120"/>
            <a:ext cx="2036003" cy="2743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result datasets</a:t>
            </a:r>
            <a:endParaRPr lang="en-US" sz="1200" dirty="0"/>
          </a:p>
        </p:txBody>
      </p:sp>
      <p:sp>
        <p:nvSpPr>
          <p:cNvPr id="15" name="Text 12"/>
          <p:cNvSpPr txBox="1"/>
          <p:nvPr/>
        </p:nvSpPr>
        <p:spPr>
          <a:xfrm>
            <a:off x="9424172" y="4983480"/>
            <a:ext cx="2036003" cy="502920"/>
          </a:xfrm>
          <a:prstGeom prst="rect">
            <a:avLst/>
          </a:prstGeom>
          <a:noFill/>
          <a:ln/>
        </p:spPr>
        <p:txBody>
          <a:bodyPr wrap="square" lIns="0" tIns="0" rIns="0" bIns="0" rtlCol="0" anchor="b"/>
          <a:lstStyle/>
          <a:p>
            <a:pPr indent="0" marL="0">
              <a:buNone/>
            </a:pPr>
            <a:r>
              <a:rPr lang="en-US" sz="2800" b="1" dirty="0">
                <a:solidFill>
                  <a:srgbClr val="1B2A4A"/>
                </a:solidFill>
                <a:latin typeface="Calibri" pitchFamily="34" charset="0"/>
                <a:ea typeface="Calibri" pitchFamily="34" charset="-122"/>
                <a:cs typeface="Calibri" pitchFamily="34" charset="-120"/>
              </a:rPr>
              <a:t>7</a:t>
            </a:r>
            <a:endParaRPr lang="en-US" sz="2800" dirty="0"/>
          </a:p>
        </p:txBody>
      </p:sp>
      <p:sp>
        <p:nvSpPr>
          <p:cNvPr id="16" name="Text 13"/>
          <p:cNvSpPr txBox="1"/>
          <p:nvPr/>
        </p:nvSpPr>
        <p:spPr>
          <a:xfrm>
            <a:off x="9424172" y="5532120"/>
            <a:ext cx="2036003" cy="2743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figures, rendered from the CSVs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3  Scope and methodology</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Methodology: from the paper's gaps to deployment guidance</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6</a:t>
            </a:r>
            <a:endParaRPr lang="en-US" sz="950" dirty="0"/>
          </a:p>
        </p:txBody>
      </p:sp>
      <p:pic>
        <p:nvPicPr>
          <p:cNvPr id="6" name="Image 0" descr="/run/media/rakshit-737/New Volume/Academics/Research Project/CNS/review2/methodology_diagram.png">    </p:cNvPr>
          <p:cNvPicPr>
            <a:picLocks noChangeAspect="1"/>
          </p:cNvPicPr>
          <p:nvPr/>
        </p:nvPicPr>
        <p:blipFill>
          <a:blip r:embed="rId1"/>
          <a:stretch>
            <a:fillRect/>
          </a:stretch>
        </p:blipFill>
        <p:spPr>
          <a:xfrm>
            <a:off x="998068" y="1298448"/>
            <a:ext cx="10195560" cy="50128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4  Implementation</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Seven standalone modules, each writing its own dataset</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code/*.py; results/system_info.txt (run of 2026-07-27)</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2560320"/>
                <a:gridCol w="594360"/>
                <a:gridCol w="3794760"/>
              </a:tblGrid>
              <a:tr h="512064">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4A"/>
                          </a:solidFill>
                          <a:latin typeface="Calibri" pitchFamily="34" charset="0"/>
                          <a:ea typeface="Calibri" pitchFamily="34" charset="-122"/>
                          <a:cs typeface="Calibri" pitchFamily="34" charset="-120"/>
                        </a:rPr>
                        <a:t>Lines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Responsibility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22222"/>
                          </a:solidFill>
                          <a:latin typeface="Courier New" pitchFamily="34" charset="0"/>
                          <a:ea typeface="Courier New" pitchFamily="34" charset="-122"/>
                          <a:cs typeface="Courier New" pitchFamily="34" charset="-120"/>
                        </a:rPr>
                        <a:t>benchmark_pqc.py</a:t>
                      </a:r>
                      <a:endParaRPr lang="en-US" sz="11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650</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Timing harness; 16 schemes; object sizes; environment manifest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22222"/>
                          </a:solidFill>
                          <a:latin typeface="Courier New" pitchFamily="34" charset="0"/>
                          <a:ea typeface="Courier New" pitchFamily="34" charset="-122"/>
                          <a:cs typeface="Courier New" pitchFamily="34" charset="-120"/>
                        </a:rPr>
                        <a:t>hybrid_handshake.py</a:t>
                      </a:r>
                      <a:endParaRPr lang="en-US" sz="11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372</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TCP client/server; classical, PQ, hybrid; SHA3-256 combiner</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22222"/>
                          </a:solidFill>
                          <a:latin typeface="Courier New" pitchFamily="34" charset="0"/>
                          <a:ea typeface="Courier New" pitchFamily="34" charset="-122"/>
                          <a:cs typeface="Courier New" pitchFamily="34" charset="-120"/>
                        </a:rPr>
                        <a:t>timing_analysis.py</a:t>
                      </a:r>
                      <a:endParaRPr lang="en-US" sz="11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Interleaved and sequential collectors; two experiments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22222"/>
                          </a:solidFill>
                          <a:latin typeface="Courier New" pitchFamily="34" charset="0"/>
                          <a:ea typeface="Courier New" pitchFamily="34" charset="-122"/>
                          <a:cs typeface="Courier New" pitchFamily="34" charset="-120"/>
                        </a:rPr>
                        <a:t>pqm4_extrapolation.py</a:t>
                      </a:r>
                      <a:endParaRPr lang="en-US" sz="11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227</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pqm4 cycle join; implied-clock test; RFC 7228 matrix</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22222"/>
                          </a:solidFill>
                          <a:latin typeface="Courier New" pitchFamily="34" charset="0"/>
                          <a:ea typeface="Courier New" pitchFamily="34" charset="-122"/>
                          <a:cs typeface="Courier New" pitchFamily="34" charset="-120"/>
                        </a:rPr>
                        <a:t>plot_results.py</a:t>
                      </a:r>
                      <a:endParaRPr lang="en-US" sz="11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463</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Renders fig1–fig7 from the CSVs only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22222"/>
                          </a:solidFill>
                          <a:latin typeface="Courier New" pitchFamily="34" charset="0"/>
                          <a:ea typeface="Courier New" pitchFamily="34" charset="-122"/>
                          <a:cs typeface="Courier New" pitchFamily="34" charset="-120"/>
                        </a:rPr>
                        <a:t>test_handshake_security.py</a:t>
                      </a:r>
                      <a:endParaRPr lang="en-US" sz="11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96</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Eight assertions on the key schedule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150" dirty="0">
                          <a:solidFill>
                            <a:srgbClr val="222222"/>
                          </a:solidFill>
                          <a:latin typeface="Courier New" pitchFamily="34" charset="0"/>
                          <a:ea typeface="Courier New" pitchFamily="34" charset="-122"/>
                          <a:cs typeface="Courier New" pitchFamily="34" charset="-120"/>
                        </a:rPr>
                        <a:t>verify_report_numbers.py</a:t>
                      </a:r>
                      <a:endParaRPr lang="en-US" sz="1150" dirty="0">
                        <a:latin typeface="Courier New" charset="0"/>
                        <a:ea typeface="Courier New" charset="0"/>
                        <a:cs typeface="Courier New"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144</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Checks every reported number against its CSV</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7909560" y="1371600"/>
          <a:ext cx="3733495" cy="914400"/>
        </p:xfrm>
        <a:graphic>
          <a:graphicData uri="http://schemas.openxmlformats.org/drawingml/2006/table">
            <a:tbl>
              <a:tblPr/>
              <a:tblGrid>
                <a:gridCol w="1143000"/>
                <a:gridCol w="2590495"/>
              </a:tblGrid>
              <a:tr h="512064">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Execution environment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CPU</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Intel i5-13500H; pinned to one P-core, HIGH priority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OS / Python</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Windows 11; CPython 3.14.3</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PQ library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pqcrypto 0.4.0 (PQClean, portable C, no AVX2)</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Classical</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cryptography 49.0.0 (OpenSSL, optimised assembly)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Harness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0.25 s warm-up; 3 s budget; 15–300 samples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12064">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Messages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59 bytes (SUPERCOP / pqm4 convention)</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7909560" y="5120640"/>
            <a:ext cx="3733495" cy="64008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environment is written to system_info.txt on every run. This is exactly the information the base paper does not report.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4  Implementation · Code walkthrough 1</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One adaptive harness times every operation, from 60 µs to 1.2 s</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8</a:t>
            </a:r>
            <a:endParaRPr lang="en-US" sz="950" dirty="0"/>
          </a:p>
        </p:txBody>
      </p:sp>
      <p:sp>
        <p:nvSpPr>
          <p:cNvPr id="6" name="Text 4"/>
          <p:cNvSpPr txBox="1"/>
          <p:nvPr/>
        </p:nvSpPr>
        <p:spPr>
          <a:xfrm>
            <a:off x="548640" y="1399032"/>
            <a:ext cx="6675120" cy="237744"/>
          </a:xfrm>
          <a:prstGeom prst="rect">
            <a:avLst/>
          </a:prstGeom>
          <a:noFill/>
          <a:ln/>
        </p:spPr>
        <p:txBody>
          <a:bodyPr wrap="square" lIns="0" tIns="0" rIns="0" bIns="0" rtlCol="0" anchor="t"/>
          <a:lstStyle/>
          <a:p>
            <a:pPr indent="0" marL="0">
              <a:buNone/>
            </a:pPr>
            <a:r>
              <a:rPr lang="en-US" sz="1050" dirty="0">
                <a:solidFill>
                  <a:srgbClr val="5F6B7A"/>
                </a:solidFill>
                <a:latin typeface="Courier New" pitchFamily="34" charset="0"/>
                <a:ea typeface="Courier New" pitchFamily="34" charset="-122"/>
                <a:cs typeface="Courier New" pitchFamily="34" charset="-120"/>
              </a:rPr>
              <a:t>code/benchmark_pqc.py · bench(), line 185 (abridged)</a:t>
            </a:r>
            <a:endParaRPr lang="en-US" sz="1050" dirty="0"/>
          </a:p>
        </p:txBody>
      </p:sp>
      <p:sp>
        <p:nvSpPr>
          <p:cNvPr id="7" name="Shape 5"/>
          <p:cNvSpPr/>
          <p:nvPr/>
        </p:nvSpPr>
        <p:spPr>
          <a:xfrm>
            <a:off x="548640" y="1691640"/>
            <a:ext cx="6675120" cy="4343400"/>
          </a:xfrm>
          <a:prstGeom prst="rect">
            <a:avLst/>
          </a:prstGeom>
          <a:solidFill>
            <a:srgbClr val="F6F7F9"/>
          </a:solidFill>
          <a:ln w="9525">
            <a:solidFill>
              <a:srgbClr val="C9CFD8"/>
            </a:solidFill>
            <a:prstDash val="solid"/>
          </a:ln>
        </p:spPr>
      </p:sp>
      <p:sp>
        <p:nvSpPr>
          <p:cNvPr id="8" name="Text 6"/>
          <p:cNvSpPr txBox="1"/>
          <p:nvPr/>
        </p:nvSpPr>
        <p:spPr>
          <a:xfrm>
            <a:off x="731520" y="1819656"/>
            <a:ext cx="6309360" cy="4087368"/>
          </a:xfrm>
          <a:prstGeom prst="rect">
            <a:avLst/>
          </a:prstGeom>
          <a:noFill/>
          <a:ln/>
        </p:spPr>
        <p:txBody>
          <a:bodyPr wrap="square" lIns="0" tIns="0" rIns="0" bIns="0" rtlCol="0" anchor="t"/>
          <a:lstStyle/>
          <a:p>
            <a:pPr indent="0" marL="0">
              <a:buNone/>
            </a:pPr>
            <a:r>
              <a:rPr lang="en-US" sz="1200" dirty="0">
                <a:solidFill>
                  <a:srgbClr val="1F2937"/>
                </a:solidFill>
                <a:latin typeface="Courier New" pitchFamily="34" charset="0"/>
                <a:ea typeface="Courier New" pitchFamily="34" charset="-122"/>
                <a:cs typeface="Courier New" pitchFamily="34" charset="-120"/>
              </a:rPr>
              <a:t>def bench(fn):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a:t>
            </a:r>
            <a:pPr indent="0" marL="0">
              <a:buNone/>
            </a:pPr>
            <a:r>
              <a:rPr lang="en-US" sz="1200" dirty="0">
                <a:solidFill>
                  <a:srgbClr val="4F7A5C"/>
                </a:solidFill>
                <a:latin typeface="Courier New" pitchFamily="34" charset="0"/>
                <a:ea typeface="Courier New" pitchFamily="34" charset="-122"/>
                <a:cs typeface="Courier New" pitchFamily="34" charset="-120"/>
              </a:rPr>
              <a:t># 1. time-based warm-up (&gt;= 0.25 s and &gt;= 3 calls)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while calls &lt; 3 or time.perf_counter() &lt; t_end:</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fn(); calls += 1</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a:t>
            </a:r>
            <a:pPr indent="0" marL="0">
              <a:buNone/>
            </a:pPr>
            <a:r>
              <a:rPr lang="en-US" sz="1200" dirty="0">
                <a:solidFill>
                  <a:srgbClr val="4F7A5C"/>
                </a:solidFill>
                <a:latin typeface="Courier New" pitchFamily="34" charset="0"/>
                <a:ea typeface="Courier New" pitchFamily="34" charset="-122"/>
                <a:cs typeface="Courier New" pitchFamily="34" charset="-120"/>
              </a:rPr>
              <a:t># 2. estimate one call's cost (min of 3 trials)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est_s = min(time_one_call(fn) for _ in range(3))</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a:t>
            </a:r>
            <a:pPr indent="0" marL="0">
              <a:buNone/>
            </a:pPr>
            <a:r>
              <a:rPr lang="en-US" sz="1200" dirty="0">
                <a:solidFill>
                  <a:srgbClr val="4F7A5C"/>
                </a:solidFill>
                <a:latin typeface="Courier New" pitchFamily="34" charset="0"/>
                <a:ea typeface="Courier New" pitchFamily="34" charset="-122"/>
                <a:cs typeface="Courier New" pitchFamily="34" charset="-120"/>
              </a:rPr>
              <a:t># 3. batch fast ops so each sample spans &gt;= 10 ms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if est_s &lt; 1e-3:</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k = clamp(ceil(0.010 / est_s), 1, 10_000)</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else:</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k = 1                       </a:t>
            </a:r>
            <a:pPr indent="0" marL="0">
              <a:buNone/>
            </a:pPr>
            <a:r>
              <a:rPr lang="en-US" sz="1200" dirty="0">
                <a:solidFill>
                  <a:srgbClr val="4F7A5C"/>
                </a:solidFill>
                <a:latin typeface="Courier New" pitchFamily="34" charset="0"/>
                <a:ea typeface="Courier New" pitchFamily="34" charset="-122"/>
                <a:cs typeface="Courier New" pitchFamily="34" charset="-120"/>
              </a:rPr>
              <a:t># slow op: time each call</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gc.disable()                    </a:t>
            </a:r>
            <a:pPr indent="0" marL="0">
              <a:buNone/>
            </a:pPr>
            <a:r>
              <a:rPr lang="en-US" sz="1200" dirty="0">
                <a:solidFill>
                  <a:srgbClr val="4F7A5C"/>
                </a:solidFill>
                <a:latin typeface="Courier New" pitchFamily="34" charset="0"/>
                <a:ea typeface="Courier New" pitchFamily="34" charset="-122"/>
                <a:cs typeface="Courier New" pitchFamily="34" charset="-120"/>
              </a:rPr>
              <a:t># 4. no GC inside a sample</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while len(samples) &lt; max_samples: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if len(samples) &gt;= min_samples and past_deadline:</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break                   </a:t>
            </a:r>
            <a:pPr indent="0" marL="0">
              <a:buNone/>
            </a:pPr>
            <a:r>
              <a:rPr lang="en-US" sz="1200" dirty="0">
                <a:solidFill>
                  <a:srgbClr val="4F7A5C"/>
                </a:solidFill>
                <a:latin typeface="Courier New" pitchFamily="34" charset="0"/>
                <a:ea typeface="Courier New" pitchFamily="34" charset="-122"/>
                <a:cs typeface="Courier New" pitchFamily="34" charset="-120"/>
              </a:rPr>
              <a:t># 5. count AND time budget</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t0 = time.perf_counter_ns()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for _ in range(k): fn()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samples.append((perf_counter_ns() - t0) / k / 1e6)</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gc.enable()</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return samples, k</a:t>
            </a:r>
            <a:endParaRPr lang="en-US" sz="1200" dirty="0"/>
          </a:p>
        </p:txBody>
      </p:sp>
      <p:sp>
        <p:nvSpPr>
          <p:cNvPr id="9" name="Text 7"/>
          <p:cNvSpPr txBox="1"/>
          <p:nvPr/>
        </p:nvSpPr>
        <p:spPr>
          <a:xfrm>
            <a:off x="7589520" y="1371600"/>
            <a:ext cx="4053535" cy="310896"/>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Design decisions</a:t>
            </a:r>
            <a:endParaRPr lang="en-US" sz="1500" dirty="0"/>
          </a:p>
        </p:txBody>
      </p:sp>
      <p:sp>
        <p:nvSpPr>
          <p:cNvPr id="10" name="Text 8"/>
          <p:cNvSpPr txBox="1"/>
          <p:nvPr/>
        </p:nvSpPr>
        <p:spPr>
          <a:xfrm>
            <a:off x="7589520" y="1783080"/>
            <a:ext cx="4053535" cy="4297680"/>
          </a:xfrm>
          <a:prstGeom prst="rect">
            <a:avLst/>
          </a:prstGeom>
          <a:noFill/>
          <a:ln/>
        </p:spPr>
        <p:txBody>
          <a:bodyPr wrap="square" lIns="0" tIns="0" rIns="0" bIns="0" rtlCol="0" anchor="t"/>
          <a:lstStyle/>
          <a:p>
            <a:pPr marL="203200" indent="-203200">
              <a:spcAft>
                <a:spcPts val="1000"/>
              </a:spcAft>
              <a:buSzPct val="100000"/>
              <a:buChar char="▪"/>
            </a:pPr>
            <a:r>
              <a:rPr lang="en-US" sz="1350" b="1" dirty="0">
                <a:solidFill>
                  <a:srgbClr val="1B2A4A"/>
                </a:solidFill>
                <a:latin typeface="Calibri" pitchFamily="34" charset="0"/>
                <a:ea typeface="Calibri" pitchFamily="34" charset="-122"/>
                <a:cs typeface="Calibri" pitchFamily="34" charset="-120"/>
              </a:rPr>
              <a:t>Range. </a:t>
            </a:r>
            <a:pPr indent="0" marL="0">
              <a:buNone/>
            </a:pPr>
            <a:r>
              <a:rPr lang="en-US" sz="1350" dirty="0">
                <a:solidFill>
                  <a:srgbClr val="222222"/>
                </a:solidFill>
                <a:latin typeface="Calibri" pitchFamily="34" charset="0"/>
                <a:ea typeface="Calibri" pitchFamily="34" charset="-122"/>
                <a:cs typeface="Calibri" pitchFamily="34" charset="-120"/>
              </a:rPr>
              <a:t>Decapsulation takes 64 µs; a SPHINCS+-128s signature takes 1.2 s. One strategy cannot time both.</a:t>
            </a:r>
            <a:endParaRPr lang="en-US" sz="1350" dirty="0"/>
          </a:p>
          <a:p>
            <a:pPr marL="203200" indent="-203200">
              <a:spcAft>
                <a:spcPts val="1000"/>
              </a:spcAft>
              <a:buSzPct val="100000"/>
              <a:buChar char="▪"/>
            </a:pPr>
            <a:r>
              <a:rPr lang="en-US" sz="1350" b="1" dirty="0">
                <a:solidFill>
                  <a:srgbClr val="1B2A4A"/>
                </a:solidFill>
                <a:latin typeface="Calibri" pitchFamily="34" charset="0"/>
                <a:ea typeface="Calibri" pitchFamily="34" charset="-122"/>
                <a:cs typeface="Calibri" pitchFamily="34" charset="-120"/>
              </a:rPr>
              <a:t>Batch factor is measured. </a:t>
            </a:r>
            <a:pPr indent="0" marL="0">
              <a:buNone/>
            </a:pPr>
            <a:r>
              <a:rPr lang="en-US" sz="1350" dirty="0">
                <a:solidFill>
                  <a:srgbClr val="222222"/>
                </a:solidFill>
                <a:latin typeface="Calibri" pitchFamily="34" charset="0"/>
                <a:ea typeface="Calibri" pitchFamily="34" charset="-122"/>
                <a:cs typeface="Calibri" pitchFamily="34" charset="-120"/>
              </a:rPr>
              <a:t>k = 210 for ML-KEM decapsulation, k = 1 for SPHINCS+ signing, with no per-scheme code.</a:t>
            </a:r>
            <a:endParaRPr lang="en-US" sz="1350" dirty="0"/>
          </a:p>
          <a:p>
            <a:pPr marL="203200" indent="-203200">
              <a:spcAft>
                <a:spcPts val="1000"/>
              </a:spcAft>
              <a:buSzPct val="100000"/>
              <a:buChar char="▪"/>
            </a:pPr>
            <a:r>
              <a:rPr lang="en-US" sz="1350" b="1" dirty="0">
                <a:solidFill>
                  <a:srgbClr val="1B2A4A"/>
                </a:solidFill>
                <a:latin typeface="Calibri" pitchFamily="34" charset="0"/>
                <a:ea typeface="Calibri" pitchFamily="34" charset="-122"/>
                <a:cs typeface="Calibri" pitchFamily="34" charset="-120"/>
              </a:rPr>
              <a:t>No GC in the timed region. </a:t>
            </a:r>
            <a:pPr indent="0" marL="0">
              <a:buNone/>
            </a:pPr>
            <a:r>
              <a:rPr lang="en-US" sz="1350" dirty="0">
                <a:solidFill>
                  <a:srgbClr val="222222"/>
                </a:solidFill>
                <a:latin typeface="Calibri" pitchFamily="34" charset="0"/>
                <a:ea typeface="Calibri" pitchFamily="34" charset="-122"/>
                <a:cs typeface="Calibri" pitchFamily="34" charset="-120"/>
              </a:rPr>
              <a:t>A collection cannot land inside a sample.</a:t>
            </a:r>
            <a:endParaRPr lang="en-US" sz="1350" dirty="0"/>
          </a:p>
          <a:p>
            <a:pPr marL="203200" indent="-203200">
              <a:spcAft>
                <a:spcPts val="1000"/>
              </a:spcAft>
              <a:buSzPct val="100000"/>
              <a:buChar char="▪"/>
            </a:pPr>
            <a:r>
              <a:rPr lang="en-US" sz="1350" b="1" dirty="0">
                <a:solidFill>
                  <a:srgbClr val="1B2A4A"/>
                </a:solidFill>
                <a:latin typeface="Calibri" pitchFamily="34" charset="0"/>
                <a:ea typeface="Calibri" pitchFamily="34" charset="-122"/>
                <a:cs typeface="Calibri" pitchFamily="34" charset="-120"/>
              </a:rPr>
              <a:t>Noise floor. </a:t>
            </a:r>
            <a:pPr indent="0" marL="0">
              <a:buNone/>
            </a:pPr>
            <a:r>
              <a:rPr lang="en-US" sz="1350" dirty="0">
                <a:solidFill>
                  <a:srgbClr val="222222"/>
                </a:solidFill>
                <a:latin typeface="Calibri" pitchFamily="34" charset="0"/>
                <a:ea typeface="Calibri" pitchFamily="34" charset="-122"/>
                <a:cs typeface="Calibri" pitchFamily="34" charset="-120"/>
              </a:rPr>
              <a:t>Calibration rows time an empty call (0.036 µs) and os.urandom(32) (0.196 µs).</a:t>
            </a:r>
            <a:endParaRPr lang="en-US" sz="1350" dirty="0"/>
          </a:p>
          <a:p>
            <a:pPr marL="203200" indent="-203200">
              <a:spcAft>
                <a:spcPts val="1000"/>
              </a:spcAft>
              <a:buSzPct val="100000"/>
              <a:buChar char="▪"/>
            </a:pPr>
            <a:r>
              <a:rPr lang="en-US" sz="1350" b="1" dirty="0">
                <a:solidFill>
                  <a:srgbClr val="1B2A4A"/>
                </a:solidFill>
                <a:latin typeface="Calibri" pitchFamily="34" charset="0"/>
                <a:ea typeface="Calibri" pitchFamily="34" charset="-122"/>
                <a:cs typeface="Calibri" pitchFamily="34" charset="-120"/>
              </a:rPr>
              <a:t>Correctness first. </a:t>
            </a:r>
            <a:pPr indent="0" marL="0">
              <a:buNone/>
            </a:pPr>
            <a:r>
              <a:rPr lang="en-US" sz="1350" dirty="0">
                <a:solidFill>
                  <a:srgbClr val="222222"/>
                </a:solidFill>
                <a:latin typeface="Calibri" pitchFamily="34" charset="0"/>
                <a:ea typeface="Calibri" pitchFamily="34" charset="-122"/>
                <a:cs typeface="Calibri" pitchFamily="34" charset="-120"/>
              </a:rPr>
              <a:t>Decapsulation is asserted to round-trip before it is timed.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5  Results · Phase 1 (G2)</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On a CPU, ML-KEM costs about the same as elliptic-curve Diffie–Hellman</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results/timings.csv; medians over 211–300 samples; PQ = portable C, classical = OpenSSL assembly</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9</a:t>
            </a:r>
            <a:endParaRPr lang="en-US" sz="950" dirty="0"/>
          </a:p>
        </p:txBody>
      </p:sp>
      <p:graphicFrame>
        <p:nvGraphicFramePr>
          <p:cNvPr id="7" name="Chart 0" descr=""/>
          <p:cNvGraphicFramePr/>
          <p:nvPr/>
        </p:nvGraphicFramePr>
        <p:xfrm>
          <a:off x="548640" y="137160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818120" y="1371600"/>
            <a:ext cx="3824935" cy="4663440"/>
          </a:xfrm>
          <a:prstGeom prst="rect">
            <a:avLst/>
          </a:prstGeom>
          <a:solidFill>
            <a:srgbClr val="F3F5F8"/>
          </a:solidFill>
          <a:ln/>
        </p:spPr>
      </p:sp>
      <p:sp>
        <p:nvSpPr>
          <p:cNvPr id="9" name="Text 6"/>
          <p:cNvSpPr txBox="1"/>
          <p:nvPr/>
        </p:nvSpPr>
        <p:spPr>
          <a:xfrm>
            <a:off x="8046720" y="1554480"/>
            <a:ext cx="3367735"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Key points</a:t>
            </a:r>
            <a:endParaRPr lang="en-US" sz="1400" dirty="0"/>
          </a:p>
        </p:txBody>
      </p:sp>
      <p:sp>
        <p:nvSpPr>
          <p:cNvPr id="10" name="Text 7"/>
          <p:cNvSpPr txBox="1"/>
          <p:nvPr/>
        </p:nvSpPr>
        <p:spPr>
          <a:xfrm>
            <a:off x="8046720" y="1938528"/>
            <a:ext cx="3367735" cy="393192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ML-KEM-512 encapsulation: 0.154 ms, against 0.143 ms for ECDH P-256. The gap is 8%.</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The comparison favours classical: its code is optimised assembly, the post-quantum code is portable C.</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HQC-128, NIST's 2025 code-based backup, needs 8.07 ms to decapsulate: over 100× ML-KEM-512.</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Signing spans four orders of magnitude, from 0.57 ms (ML-DSA-44) to 1.19 s (SPHINCS+-128s).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5  Results · Phase 1 (G2)</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real cost is bytes on the wire: roughly 16 radio frames instead of one</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results/sizes.csv; sizes read from objects produced by the libraries</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10</a:t>
            </a:r>
            <a:endParaRPr lang="en-US" sz="950" dirty="0"/>
          </a:p>
        </p:txBody>
      </p:sp>
      <p:graphicFrame>
        <p:nvGraphicFramePr>
          <p:cNvPr id="7" name="Chart 0" descr=""/>
          <p:cNvGraphicFramePr/>
          <p:nvPr/>
        </p:nvGraphicFramePr>
        <p:xfrm>
          <a:off x="548640" y="137160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818120" y="1371600"/>
            <a:ext cx="3824935" cy="4663440"/>
          </a:xfrm>
          <a:prstGeom prst="rect">
            <a:avLst/>
          </a:prstGeom>
          <a:solidFill>
            <a:srgbClr val="F3F5F8"/>
          </a:solidFill>
          <a:ln/>
        </p:spPr>
      </p:sp>
      <p:sp>
        <p:nvSpPr>
          <p:cNvPr id="9" name="Text 6"/>
          <p:cNvSpPr txBox="1"/>
          <p:nvPr/>
        </p:nvSpPr>
        <p:spPr>
          <a:xfrm>
            <a:off x="8046720" y="1554480"/>
            <a:ext cx="3367735"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Key points</a:t>
            </a:r>
            <a:endParaRPr lang="en-US" sz="1400" dirty="0"/>
          </a:p>
        </p:txBody>
      </p:sp>
      <p:sp>
        <p:nvSpPr>
          <p:cNvPr id="10" name="Text 7"/>
          <p:cNvSpPr txBox="1"/>
          <p:nvPr/>
        </p:nvSpPr>
        <p:spPr>
          <a:xfrm>
            <a:off x="8046720" y="1938528"/>
            <a:ext cx="3367735" cy="393192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An IEEE 802.15.4 frame carries about 100 B of payload. One ML-KEM-512 exchange (1,568 B) needs about 16 frames; X25519 (64 B) needs one.</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Signatures follow the same pattern: Ed25519 is 64 B, ML-DSA-44 is 2,420 B (38×).</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Falcon-512 signatures are variable-length: 651–660 B over 100 signatures (752 B maximum).</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Measured ML-DSA-44 secret key of 2,560 B confirms the final FIPS 204 parameters.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5  Results · Phase 2 (G3)</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No signature family is best on every axis, so the choice depends on role</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results/timings.csv, results/sizes.csv; † classical, not quantum-safe</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11</a:t>
            </a:r>
            <a:endParaRPr lang="en-US" sz="950" dirty="0"/>
          </a:p>
        </p:txBody>
      </p:sp>
      <p:graphicFrame>
        <p:nvGraphicFramePr>
          <p:cNvPr id="7" name="Chart 0" descr=""/>
          <p:cNvGraphicFramePr/>
          <p:nvPr/>
        </p:nvGraphicFramePr>
        <p:xfrm>
          <a:off x="548640" y="1371600"/>
          <a:ext cx="5760720" cy="4663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0" y="1371600"/>
          <a:ext cx="4967935" cy="914400"/>
        </p:xfrm>
        <a:graphic>
          <a:graphicData uri="http://schemas.openxmlformats.org/drawingml/2006/table">
            <a:tbl>
              <a:tblPr/>
              <a:tblGrid>
                <a:gridCol w="1737360"/>
                <a:gridCol w="1097280"/>
                <a:gridCol w="1097280"/>
                <a:gridCol w="1033272"/>
              </a:tblGrid>
              <a:tr h="402336">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Scheme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Sign ms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Verify ms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Signature B</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Ed25519 †</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0.053</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0.147</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64</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ML-DSA-44</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0.572</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0.141</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2,420</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Falcon-512</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6.414</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22222"/>
                          </a:solidFill>
                          <a:latin typeface="Calibri" pitchFamily="34" charset="0"/>
                          <a:ea typeface="Calibri" pitchFamily="34" charset="-122"/>
                          <a:cs typeface="Calibri" pitchFamily="34" charset="-120"/>
                        </a:rPr>
                        <a:t>0.066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22222"/>
                          </a:solidFill>
                          <a:latin typeface="Calibri" pitchFamily="34" charset="0"/>
                          <a:ea typeface="Calibri" pitchFamily="34" charset="-122"/>
                          <a:cs typeface="Calibri" pitchFamily="34" charset="-120"/>
                        </a:rPr>
                        <a:t>~655</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SPHINCS+-128f</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60.46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3.291</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17,088</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SPHINCS+-128s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1,189</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1.046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7,856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6675120" y="3977640"/>
            <a:ext cx="4967935" cy="2057400"/>
          </a:xfrm>
          <a:prstGeom prst="rect">
            <a:avLst/>
          </a:prstGeom>
          <a:noFill/>
          <a:ln/>
        </p:spPr>
        <p:txBody>
          <a:bodyPr wrap="square" lIns="0" tIns="0" rIns="0" bIns="0" rtlCol="0" anchor="t"/>
          <a:lstStyle/>
          <a:p>
            <a:pPr indent="0" marL="0">
              <a:spcAft>
                <a:spcPts val="700"/>
              </a:spcAft>
              <a:buNone/>
            </a:pPr>
            <a:r>
              <a:rPr lang="en-US" sz="1300" b="1" dirty="0">
                <a:solidFill>
                  <a:srgbClr val="1B2A4A"/>
                </a:solidFill>
                <a:latin typeface="Calibri" pitchFamily="34" charset="0"/>
                <a:ea typeface="Calibri" pitchFamily="34" charset="-122"/>
                <a:cs typeface="Calibri" pitchFamily="34" charset="-120"/>
              </a:rPr>
              <a:t>Falcon: </a:t>
            </a:r>
            <a:pPr indent="0" marL="0">
              <a:buNone/>
            </a:pPr>
            <a:r>
              <a:rPr lang="en-US" sz="1300" dirty="0">
                <a:solidFill>
                  <a:srgbClr val="222222"/>
                </a:solidFill>
                <a:latin typeface="Calibri" pitchFamily="34" charset="0"/>
                <a:ea typeface="Calibri" pitchFamily="34" charset="-122"/>
                <a:cs typeface="Calibri" pitchFamily="34" charset="-120"/>
              </a:rPr>
              <a:t>fastest verification and smallest post-quantum signature, but signs 11× slower than ML-DSA. Suited to firmware-update checks on sensors.</a:t>
            </a:r>
            <a:endParaRPr lang="en-US" sz="1300" dirty="0"/>
          </a:p>
          <a:p>
            <a:pPr indent="0" marL="0">
              <a:spcAft>
                <a:spcPts val="700"/>
              </a:spcAft>
              <a:buNone/>
            </a:pPr>
            <a:r>
              <a:rPr lang="en-US" sz="1300" b="1" dirty="0">
                <a:solidFill>
                  <a:srgbClr val="1B2A4A"/>
                </a:solidFill>
                <a:latin typeface="Calibri" pitchFamily="34" charset="0"/>
                <a:ea typeface="Calibri" pitchFamily="34" charset="-122"/>
                <a:cs typeface="Calibri" pitchFamily="34" charset="-120"/>
              </a:rPr>
              <a:t>ML-DSA: </a:t>
            </a:r>
            <a:pPr indent="0" marL="0">
              <a:buNone/>
            </a:pPr>
            <a:r>
              <a:rPr lang="en-US" sz="1300" dirty="0">
                <a:solidFill>
                  <a:srgbClr val="222222"/>
                </a:solidFill>
                <a:latin typeface="Calibri" pitchFamily="34" charset="0"/>
                <a:ea typeface="Calibri" pitchFamily="34" charset="-122"/>
                <a:cs typeface="Calibri" pitchFamily="34" charset="-120"/>
              </a:rPr>
              <a:t>balanced general-purpose choice.</a:t>
            </a:r>
            <a:endParaRPr lang="en-US" sz="1300" dirty="0"/>
          </a:p>
          <a:p>
            <a:pPr indent="0" marL="0">
              <a:spcAft>
                <a:spcPts val="700"/>
              </a:spcAft>
              <a:buNone/>
            </a:pPr>
            <a:r>
              <a:rPr lang="en-US" sz="1300" b="1" dirty="0">
                <a:solidFill>
                  <a:srgbClr val="1B2A4A"/>
                </a:solidFill>
                <a:latin typeface="Calibri" pitchFamily="34" charset="0"/>
                <a:ea typeface="Calibri" pitchFamily="34" charset="-122"/>
                <a:cs typeface="Calibri" pitchFamily="34" charset="-120"/>
              </a:rPr>
              <a:t>SPHINCS+: </a:t>
            </a:r>
            <a:pPr indent="0" marL="0">
              <a:buNone/>
            </a:pPr>
            <a:r>
              <a:rPr lang="en-US" sz="1300" dirty="0">
                <a:solidFill>
                  <a:srgbClr val="222222"/>
                </a:solidFill>
                <a:latin typeface="Calibri" pitchFamily="34" charset="0"/>
                <a:ea typeface="Calibri" pitchFamily="34" charset="-122"/>
                <a:cs typeface="Calibri" pitchFamily="34" charset="-120"/>
              </a:rPr>
              <a:t>hash-only security for rarely-signing roots, signed off-device.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6  Phase 3 (G1) · Hybrid key exchange</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implemented protocol: one round trip followed by key confirmation</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code/hybrid_handshake.py; hybrid-768 shown (mirrors TLS 1.3 X25519MLKEM768); every message framed as 4-byte length + payload</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12</a:t>
            </a:r>
            <a:endParaRPr lang="en-US" sz="950" dirty="0"/>
          </a:p>
        </p:txBody>
      </p:sp>
      <p:sp>
        <p:nvSpPr>
          <p:cNvPr id="7" name="Shape 5"/>
          <p:cNvSpPr/>
          <p:nvPr/>
        </p:nvSpPr>
        <p:spPr>
          <a:xfrm>
            <a:off x="1188720" y="1325880"/>
            <a:ext cx="2286000" cy="530352"/>
          </a:xfrm>
          <a:prstGeom prst="rect">
            <a:avLst/>
          </a:prstGeom>
          <a:solidFill>
            <a:srgbClr val="1B2A4A"/>
          </a:solidFill>
          <a:ln/>
        </p:spPr>
      </p:sp>
      <p:sp>
        <p:nvSpPr>
          <p:cNvPr id="8" name="Text 6"/>
          <p:cNvSpPr txBox="1"/>
          <p:nvPr/>
        </p:nvSpPr>
        <p:spPr>
          <a:xfrm>
            <a:off x="1188720" y="1325880"/>
            <a:ext cx="228600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Client</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IoT node (initiator)</a:t>
            </a:r>
            <a:endParaRPr lang="en-US" sz="1300" dirty="0"/>
          </a:p>
        </p:txBody>
      </p:sp>
      <p:sp>
        <p:nvSpPr>
          <p:cNvPr id="9" name="Shape 7"/>
          <p:cNvSpPr/>
          <p:nvPr/>
        </p:nvSpPr>
        <p:spPr>
          <a:xfrm>
            <a:off x="2331720" y="1856232"/>
            <a:ext cx="0" cy="3703320"/>
          </a:xfrm>
          <a:prstGeom prst="line">
            <a:avLst/>
          </a:prstGeom>
          <a:noFill/>
          <a:ln w="12700">
            <a:solidFill>
              <a:srgbClr val="9AA5B5"/>
            </a:solidFill>
            <a:prstDash val="dash"/>
          </a:ln>
        </p:spPr>
      </p:sp>
      <p:sp>
        <p:nvSpPr>
          <p:cNvPr id="10" name="Shape 8"/>
          <p:cNvSpPr/>
          <p:nvPr/>
        </p:nvSpPr>
        <p:spPr>
          <a:xfrm>
            <a:off x="8686800" y="1325880"/>
            <a:ext cx="2286000" cy="530352"/>
          </a:xfrm>
          <a:prstGeom prst="rect">
            <a:avLst/>
          </a:prstGeom>
          <a:solidFill>
            <a:srgbClr val="1B2A4A"/>
          </a:solidFill>
          <a:ln/>
        </p:spPr>
      </p:sp>
      <p:sp>
        <p:nvSpPr>
          <p:cNvPr id="11" name="Text 9"/>
          <p:cNvSpPr txBox="1"/>
          <p:nvPr/>
        </p:nvSpPr>
        <p:spPr>
          <a:xfrm>
            <a:off x="8686800" y="1325880"/>
            <a:ext cx="228600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Server</a:t>
            </a:r>
            <a:endParaRPr lang="en-US" sz="1300" dirty="0"/>
          </a:p>
          <a:p>
            <a:pPr algn="ctr" indent="0" marL="0">
              <a:buNone/>
            </a:pPr>
            <a:r>
              <a:rPr lang="en-US" sz="1050" dirty="0">
                <a:solidFill>
                  <a:srgbClr val="FFFFFF"/>
                </a:solidFill>
                <a:latin typeface="Calibri" pitchFamily="34" charset="0"/>
                <a:ea typeface="Calibri" pitchFamily="34" charset="-122"/>
                <a:cs typeface="Calibri" pitchFamily="34" charset="-120"/>
              </a:rPr>
              <a:t>gateway (responder)</a:t>
            </a:r>
            <a:endParaRPr lang="en-US" sz="1300" dirty="0"/>
          </a:p>
        </p:txBody>
      </p:sp>
      <p:sp>
        <p:nvSpPr>
          <p:cNvPr id="12" name="Shape 10"/>
          <p:cNvSpPr/>
          <p:nvPr/>
        </p:nvSpPr>
        <p:spPr>
          <a:xfrm>
            <a:off x="9829800" y="1856232"/>
            <a:ext cx="0" cy="3703320"/>
          </a:xfrm>
          <a:prstGeom prst="line">
            <a:avLst/>
          </a:prstGeom>
          <a:noFill/>
          <a:ln w="12700">
            <a:solidFill>
              <a:srgbClr val="9AA5B5"/>
            </a:solidFill>
            <a:prstDash val="dash"/>
          </a:ln>
        </p:spPr>
      </p:sp>
      <p:sp>
        <p:nvSpPr>
          <p:cNvPr id="13" name="Shape 11"/>
          <p:cNvSpPr/>
          <p:nvPr/>
        </p:nvSpPr>
        <p:spPr>
          <a:xfrm>
            <a:off x="960120" y="2011680"/>
            <a:ext cx="2743200" cy="457200"/>
          </a:xfrm>
          <a:prstGeom prst="rect">
            <a:avLst/>
          </a:prstGeom>
          <a:solidFill>
            <a:srgbClr val="F3F5F8"/>
          </a:solidFill>
          <a:ln w="9525">
            <a:solidFill>
              <a:srgbClr val="C9CFD8"/>
            </a:solidFill>
            <a:prstDash val="solid"/>
          </a:ln>
        </p:spPr>
      </p:sp>
      <p:sp>
        <p:nvSpPr>
          <p:cNvPr id="14" name="Text 12"/>
          <p:cNvSpPr txBox="1"/>
          <p:nvPr/>
        </p:nvSpPr>
        <p:spPr>
          <a:xfrm>
            <a:off x="1051560" y="2011680"/>
            <a:ext cx="2560320" cy="457200"/>
          </a:xfrm>
          <a:prstGeom prst="rect">
            <a:avLst/>
          </a:prstGeom>
          <a:noFill/>
          <a:ln/>
        </p:spPr>
        <p:txBody>
          <a:bodyPr wrap="square" lIns="0" tIns="0" rIns="0" bIns="0" rtlCol="0" anchor="ctr"/>
          <a:lstStyle/>
          <a:p>
            <a:pPr algn="ctr" indent="0" marL="0">
              <a:buNone/>
            </a:pPr>
            <a:r>
              <a:rPr lang="en-US" sz="1150" dirty="0">
                <a:solidFill>
                  <a:srgbClr val="222222"/>
                </a:solidFill>
                <a:latin typeface="Calibri" pitchFamily="34" charset="0"/>
                <a:ea typeface="Calibri" pitchFamily="34" charset="-122"/>
                <a:cs typeface="Calibri" pitchFamily="34" charset="-120"/>
              </a:rPr>
              <a:t>Generate ephemeral X25519 and ML-KEM-768 key pairs</a:t>
            </a:r>
            <a:endParaRPr lang="en-US" sz="1150" dirty="0"/>
          </a:p>
        </p:txBody>
      </p:sp>
      <p:sp>
        <p:nvSpPr>
          <p:cNvPr id="15" name="Shape 13"/>
          <p:cNvSpPr/>
          <p:nvPr/>
        </p:nvSpPr>
        <p:spPr>
          <a:xfrm>
            <a:off x="2331720" y="2743200"/>
            <a:ext cx="7498080" cy="0"/>
          </a:xfrm>
          <a:prstGeom prst="line">
            <a:avLst/>
          </a:prstGeom>
          <a:noFill/>
          <a:ln w="19050">
            <a:solidFill>
              <a:srgbClr val="1B2A4A"/>
            </a:solidFill>
            <a:prstDash val="solid"/>
            <a:tailEnd type="triangle"/>
          </a:ln>
        </p:spPr>
      </p:sp>
      <p:sp>
        <p:nvSpPr>
          <p:cNvPr id="16" name="Text 14"/>
          <p:cNvSpPr txBox="1"/>
          <p:nvPr/>
        </p:nvSpPr>
        <p:spPr>
          <a:xfrm>
            <a:off x="2606040" y="2441448"/>
            <a:ext cx="6949440" cy="274320"/>
          </a:xfrm>
          <a:prstGeom prst="rect">
            <a:avLst/>
          </a:prstGeom>
          <a:noFill/>
          <a:ln/>
        </p:spPr>
        <p:txBody>
          <a:bodyPr wrap="square" lIns="0" tIns="0" rIns="0" bIns="0" rtlCol="0" anchor="b"/>
          <a:lstStyle/>
          <a:p>
            <a:pPr algn="ctr" indent="0" marL="0">
              <a:buNone/>
            </a:pPr>
            <a:r>
              <a:rPr lang="en-US" sz="1200" dirty="0">
                <a:solidFill>
                  <a:srgbClr val="222222"/>
                </a:solidFill>
                <a:latin typeface="Calibri" pitchFamily="34" charset="0"/>
                <a:ea typeface="Calibri" pitchFamily="34" charset="-122"/>
                <a:cs typeface="Calibri" pitchFamily="34" charset="-120"/>
              </a:rPr>
              <a:t>msg1  ClientHello:  mode ‖ level ‖ X25519 pk (32 B) ‖ ML-KEM pk (1,184 B)</a:t>
            </a:r>
            <a:endParaRPr lang="en-US" sz="1200" dirty="0"/>
          </a:p>
        </p:txBody>
      </p:sp>
      <p:sp>
        <p:nvSpPr>
          <p:cNvPr id="17" name="Text 15"/>
          <p:cNvSpPr txBox="1"/>
          <p:nvPr/>
        </p:nvSpPr>
        <p:spPr>
          <a:xfrm>
            <a:off x="9939528" y="2615184"/>
            <a:ext cx="16459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1,222 B</a:t>
            </a:r>
            <a:endParaRPr lang="en-US" sz="1200" dirty="0"/>
          </a:p>
        </p:txBody>
      </p:sp>
      <p:sp>
        <p:nvSpPr>
          <p:cNvPr id="18" name="Shape 16"/>
          <p:cNvSpPr/>
          <p:nvPr/>
        </p:nvSpPr>
        <p:spPr>
          <a:xfrm>
            <a:off x="8458200" y="2926080"/>
            <a:ext cx="2743200" cy="502920"/>
          </a:xfrm>
          <a:prstGeom prst="rect">
            <a:avLst/>
          </a:prstGeom>
          <a:solidFill>
            <a:srgbClr val="F3F5F8"/>
          </a:solidFill>
          <a:ln w="9525">
            <a:solidFill>
              <a:srgbClr val="C9CFD8"/>
            </a:solidFill>
            <a:prstDash val="solid"/>
          </a:ln>
        </p:spPr>
      </p:sp>
      <p:sp>
        <p:nvSpPr>
          <p:cNvPr id="19" name="Text 17"/>
          <p:cNvSpPr txBox="1"/>
          <p:nvPr/>
        </p:nvSpPr>
        <p:spPr>
          <a:xfrm>
            <a:off x="8549640" y="2926080"/>
            <a:ext cx="2560320" cy="502920"/>
          </a:xfrm>
          <a:prstGeom prst="rect">
            <a:avLst/>
          </a:prstGeom>
          <a:noFill/>
          <a:ln/>
        </p:spPr>
        <p:txBody>
          <a:bodyPr wrap="square" lIns="0" tIns="0" rIns="0" bIns="0" rtlCol="0" anchor="ctr"/>
          <a:lstStyle/>
          <a:p>
            <a:pPr algn="ctr" indent="0" marL="0">
              <a:buNone/>
            </a:pPr>
            <a:r>
              <a:rPr lang="en-US" sz="1150" dirty="0">
                <a:solidFill>
                  <a:srgbClr val="222222"/>
                </a:solidFill>
                <a:latin typeface="Calibri" pitchFamily="34" charset="0"/>
                <a:ea typeface="Calibri" pitchFamily="34" charset="-122"/>
                <a:cs typeface="Calibri" pitchFamily="34" charset="-120"/>
              </a:rPr>
              <a:t>X25519 exchange → ss_cls</a:t>
            </a:r>
            <a:endParaRPr lang="en-US" sz="1150" dirty="0"/>
          </a:p>
          <a:p>
            <a:pPr algn="ctr" indent="0" marL="0">
              <a:buNone/>
            </a:pPr>
            <a:r>
              <a:rPr lang="en-US" sz="1150" dirty="0">
                <a:solidFill>
                  <a:srgbClr val="222222"/>
                </a:solidFill>
                <a:latin typeface="Calibri" pitchFamily="34" charset="0"/>
                <a:ea typeface="Calibri" pitchFamily="34" charset="-122"/>
                <a:cs typeface="Calibri" pitchFamily="34" charset="-120"/>
              </a:rPr>
              <a:t>ML-KEM encapsulate → ct, ss_pq</a:t>
            </a:r>
            <a:endParaRPr lang="en-US" sz="1150" dirty="0"/>
          </a:p>
        </p:txBody>
      </p:sp>
      <p:sp>
        <p:nvSpPr>
          <p:cNvPr id="20" name="Shape 18"/>
          <p:cNvSpPr/>
          <p:nvPr/>
        </p:nvSpPr>
        <p:spPr>
          <a:xfrm>
            <a:off x="2331720" y="3749040"/>
            <a:ext cx="7498080" cy="0"/>
          </a:xfrm>
          <a:prstGeom prst="line">
            <a:avLst/>
          </a:prstGeom>
          <a:noFill/>
          <a:ln w="19050">
            <a:solidFill>
              <a:srgbClr val="1B2A4A"/>
            </a:solidFill>
            <a:prstDash val="solid"/>
            <a:headEnd type="triangle"/>
          </a:ln>
        </p:spPr>
      </p:sp>
      <p:sp>
        <p:nvSpPr>
          <p:cNvPr id="21" name="Text 19"/>
          <p:cNvSpPr txBox="1"/>
          <p:nvPr/>
        </p:nvSpPr>
        <p:spPr>
          <a:xfrm>
            <a:off x="2606040" y="3447288"/>
            <a:ext cx="6949440" cy="274320"/>
          </a:xfrm>
          <a:prstGeom prst="rect">
            <a:avLst/>
          </a:prstGeom>
          <a:noFill/>
          <a:ln/>
        </p:spPr>
        <p:txBody>
          <a:bodyPr wrap="square" lIns="0" tIns="0" rIns="0" bIns="0" rtlCol="0" anchor="b"/>
          <a:lstStyle/>
          <a:p>
            <a:pPr algn="ctr" indent="0" marL="0">
              <a:buNone/>
            </a:pPr>
            <a:r>
              <a:rPr lang="en-US" sz="1200" dirty="0">
                <a:solidFill>
                  <a:srgbClr val="222222"/>
                </a:solidFill>
                <a:latin typeface="Calibri" pitchFamily="34" charset="0"/>
                <a:ea typeface="Calibri" pitchFamily="34" charset="-122"/>
                <a:cs typeface="Calibri" pitchFamily="34" charset="-120"/>
              </a:rPr>
              <a:t>msg2  ServerHello:  X25519 pk (32 B) ‖ ML-KEM ciphertext (1,088 B)</a:t>
            </a:r>
            <a:endParaRPr lang="en-US" sz="1200" dirty="0"/>
          </a:p>
        </p:txBody>
      </p:sp>
      <p:sp>
        <p:nvSpPr>
          <p:cNvPr id="22" name="Text 20"/>
          <p:cNvSpPr txBox="1"/>
          <p:nvPr/>
        </p:nvSpPr>
        <p:spPr>
          <a:xfrm>
            <a:off x="548640" y="3621024"/>
            <a:ext cx="1673352" cy="256032"/>
          </a:xfrm>
          <a:prstGeom prst="rect">
            <a:avLst/>
          </a:prstGeom>
          <a:noFill/>
          <a:ln/>
        </p:spPr>
        <p:txBody>
          <a:bodyPr wrap="square" lIns="0" tIns="0" rIns="0" bIns="0" rtlCol="0" anchor="ctr"/>
          <a:lstStyle/>
          <a:p>
            <a:pPr algn="r" indent="0" marL="0">
              <a:buNone/>
            </a:pPr>
            <a:r>
              <a:rPr lang="en-US" sz="1200" b="1" dirty="0">
                <a:solidFill>
                  <a:srgbClr val="1B2A4A"/>
                </a:solidFill>
                <a:latin typeface="Calibri" pitchFamily="34" charset="0"/>
                <a:ea typeface="Calibri" pitchFamily="34" charset="-122"/>
                <a:cs typeface="Calibri" pitchFamily="34" charset="-120"/>
              </a:rPr>
              <a:t>1,124 B</a:t>
            </a:r>
            <a:endParaRPr lang="en-US" sz="1200" dirty="0"/>
          </a:p>
        </p:txBody>
      </p:sp>
      <p:sp>
        <p:nvSpPr>
          <p:cNvPr id="23" name="Shape 21"/>
          <p:cNvSpPr/>
          <p:nvPr/>
        </p:nvSpPr>
        <p:spPr>
          <a:xfrm>
            <a:off x="1508760" y="3931920"/>
            <a:ext cx="9144000" cy="566928"/>
          </a:xfrm>
          <a:prstGeom prst="rect">
            <a:avLst/>
          </a:prstGeom>
          <a:solidFill>
            <a:srgbClr val="E6EBF2"/>
          </a:solidFill>
          <a:ln w="9525">
            <a:solidFill>
              <a:srgbClr val="1B2A4A"/>
            </a:solidFill>
            <a:prstDash val="solid"/>
          </a:ln>
        </p:spPr>
      </p:sp>
      <p:sp>
        <p:nvSpPr>
          <p:cNvPr id="24" name="Text 22"/>
          <p:cNvSpPr txBox="1"/>
          <p:nvPr/>
        </p:nvSpPr>
        <p:spPr>
          <a:xfrm>
            <a:off x="1600200" y="3931920"/>
            <a:ext cx="8961120" cy="566928"/>
          </a:xfrm>
          <a:prstGeom prst="rect">
            <a:avLst/>
          </a:prstGeom>
          <a:noFill/>
          <a:ln/>
        </p:spPr>
        <p:txBody>
          <a:bodyPr wrap="square" lIns="0" tIns="0" rIns="0" bIns="0"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Both sides:  </a:t>
            </a:r>
            <a:pPr algn="ctr" indent="0" marL="0">
              <a:buNone/>
            </a:pPr>
            <a:r>
              <a:rPr lang="en-US" sz="1250" dirty="0">
                <a:solidFill>
                  <a:srgbClr val="1B2A4A"/>
                </a:solidFill>
                <a:latin typeface="Calibri" pitchFamily="34" charset="0"/>
                <a:ea typeface="Calibri" pitchFamily="34" charset="-122"/>
                <a:cs typeface="Calibri" pitchFamily="34" charset="-120"/>
              </a:rPr>
              <a:t>transcript = SHA3-256(msg1 ‖ msg2);   K = SHA3-256(label ‖ mode ‖ level ‖ ss_cls ‖ ss_pq ‖ transcript)</a:t>
            </a:r>
            <a:endParaRPr lang="en-US" sz="1250" dirty="0"/>
          </a:p>
        </p:txBody>
      </p:sp>
      <p:sp>
        <p:nvSpPr>
          <p:cNvPr id="25" name="Shape 23"/>
          <p:cNvSpPr/>
          <p:nvPr/>
        </p:nvSpPr>
        <p:spPr>
          <a:xfrm>
            <a:off x="2331720" y="4892040"/>
            <a:ext cx="7498080" cy="0"/>
          </a:xfrm>
          <a:prstGeom prst="line">
            <a:avLst/>
          </a:prstGeom>
          <a:noFill/>
          <a:ln w="19050">
            <a:solidFill>
              <a:srgbClr val="1B2A4A"/>
            </a:solidFill>
            <a:prstDash val="solid"/>
            <a:tailEnd type="triangle"/>
          </a:ln>
        </p:spPr>
      </p:sp>
      <p:sp>
        <p:nvSpPr>
          <p:cNvPr id="26" name="Text 24"/>
          <p:cNvSpPr txBox="1"/>
          <p:nvPr/>
        </p:nvSpPr>
        <p:spPr>
          <a:xfrm>
            <a:off x="2606040" y="4590288"/>
            <a:ext cx="6949440" cy="274320"/>
          </a:xfrm>
          <a:prstGeom prst="rect">
            <a:avLst/>
          </a:prstGeom>
          <a:noFill/>
          <a:ln/>
        </p:spPr>
        <p:txBody>
          <a:bodyPr wrap="square" lIns="0" tIns="0" rIns="0" bIns="0" rtlCol="0" anchor="b"/>
          <a:lstStyle/>
          <a:p>
            <a:pPr algn="ctr" indent="0" marL="0">
              <a:buNone/>
            </a:pPr>
            <a:r>
              <a:rPr lang="en-US" sz="1200" dirty="0">
                <a:solidFill>
                  <a:srgbClr val="222222"/>
                </a:solidFill>
                <a:latin typeface="Calibri" pitchFamily="34" charset="0"/>
                <a:ea typeface="Calibri" pitchFamily="34" charset="-122"/>
                <a:cs typeface="Calibri" pitchFamily="34" charset="-120"/>
              </a:rPr>
              <a:t>fin_C = AES-256-GCM(K; transcript, aad = "c-fin")</a:t>
            </a:r>
            <a:endParaRPr lang="en-US" sz="1200" dirty="0"/>
          </a:p>
        </p:txBody>
      </p:sp>
      <p:sp>
        <p:nvSpPr>
          <p:cNvPr id="27" name="Text 25"/>
          <p:cNvSpPr txBox="1"/>
          <p:nvPr/>
        </p:nvSpPr>
        <p:spPr>
          <a:xfrm>
            <a:off x="9939528" y="4764024"/>
            <a:ext cx="16459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64 B</a:t>
            </a:r>
            <a:endParaRPr lang="en-US" sz="1200" dirty="0"/>
          </a:p>
        </p:txBody>
      </p:sp>
      <p:sp>
        <p:nvSpPr>
          <p:cNvPr id="28" name="Shape 26"/>
          <p:cNvSpPr/>
          <p:nvPr/>
        </p:nvSpPr>
        <p:spPr>
          <a:xfrm>
            <a:off x="2331720" y="5440680"/>
            <a:ext cx="7498080" cy="0"/>
          </a:xfrm>
          <a:prstGeom prst="line">
            <a:avLst/>
          </a:prstGeom>
          <a:noFill/>
          <a:ln w="19050">
            <a:solidFill>
              <a:srgbClr val="1B2A4A"/>
            </a:solidFill>
            <a:prstDash val="solid"/>
            <a:headEnd type="triangle"/>
          </a:ln>
        </p:spPr>
      </p:sp>
      <p:sp>
        <p:nvSpPr>
          <p:cNvPr id="29" name="Text 27"/>
          <p:cNvSpPr txBox="1"/>
          <p:nvPr/>
        </p:nvSpPr>
        <p:spPr>
          <a:xfrm>
            <a:off x="2606040" y="5138928"/>
            <a:ext cx="6949440" cy="274320"/>
          </a:xfrm>
          <a:prstGeom prst="rect">
            <a:avLst/>
          </a:prstGeom>
          <a:noFill/>
          <a:ln/>
        </p:spPr>
        <p:txBody>
          <a:bodyPr wrap="square" lIns="0" tIns="0" rIns="0" bIns="0" rtlCol="0" anchor="b"/>
          <a:lstStyle/>
          <a:p>
            <a:pPr algn="ctr" indent="0" marL="0">
              <a:buNone/>
            </a:pPr>
            <a:r>
              <a:rPr lang="en-US" sz="1200" dirty="0">
                <a:solidFill>
                  <a:srgbClr val="222222"/>
                </a:solidFill>
                <a:latin typeface="Calibri" pitchFamily="34" charset="0"/>
                <a:ea typeface="Calibri" pitchFamily="34" charset="-122"/>
                <a:cs typeface="Calibri" pitchFamily="34" charset="-120"/>
              </a:rPr>
              <a:t>fin_S = AES-256-GCM(K; transcript, aad = "s-fin")</a:t>
            </a:r>
            <a:endParaRPr lang="en-US" sz="1200" dirty="0"/>
          </a:p>
        </p:txBody>
      </p:sp>
      <p:sp>
        <p:nvSpPr>
          <p:cNvPr id="30" name="Text 28"/>
          <p:cNvSpPr txBox="1"/>
          <p:nvPr/>
        </p:nvSpPr>
        <p:spPr>
          <a:xfrm>
            <a:off x="548640" y="5312664"/>
            <a:ext cx="1673352" cy="256032"/>
          </a:xfrm>
          <a:prstGeom prst="rect">
            <a:avLst/>
          </a:prstGeom>
          <a:noFill/>
          <a:ln/>
        </p:spPr>
        <p:txBody>
          <a:bodyPr wrap="square" lIns="0" tIns="0" rIns="0" bIns="0" rtlCol="0" anchor="ctr"/>
          <a:lstStyle/>
          <a:p>
            <a:pPr algn="r" indent="0" marL="0">
              <a:buNone/>
            </a:pPr>
            <a:r>
              <a:rPr lang="en-US" sz="1200" b="1" dirty="0">
                <a:solidFill>
                  <a:srgbClr val="1B2A4A"/>
                </a:solidFill>
                <a:latin typeface="Calibri" pitchFamily="34" charset="0"/>
                <a:ea typeface="Calibri" pitchFamily="34" charset="-122"/>
                <a:cs typeface="Calibri" pitchFamily="34" charset="-120"/>
              </a:rPr>
              <a:t>64 B</a:t>
            </a:r>
            <a:endParaRPr lang="en-US" sz="1200" dirty="0"/>
          </a:p>
        </p:txBody>
      </p:sp>
      <p:sp>
        <p:nvSpPr>
          <p:cNvPr id="31" name="Text 29"/>
          <p:cNvSpPr txBox="1"/>
          <p:nvPr/>
        </p:nvSpPr>
        <p:spPr>
          <a:xfrm>
            <a:off x="548640" y="5715000"/>
            <a:ext cx="11094415" cy="292608"/>
          </a:xfrm>
          <a:prstGeom prst="rect">
            <a:avLst/>
          </a:prstGeom>
          <a:noFill/>
          <a:ln/>
        </p:spPr>
        <p:txBody>
          <a:bodyPr wrap="square" lIns="0" tIns="0" rIns="0" bIns="0" rtlCol="0" anchor="t"/>
          <a:lstStyle/>
          <a:p>
            <a:pPr algn="ctr" indent="0" marL="0">
              <a:buNone/>
            </a:pPr>
            <a:r>
              <a:rPr lang="en-US" sz="1200" dirty="0">
                <a:solidFill>
                  <a:srgbClr val="5F6B7A"/>
                </a:solidFill>
                <a:latin typeface="Calibri" pitchFamily="34" charset="0"/>
                <a:ea typeface="Calibri" pitchFamily="34" charset="-122"/>
                <a:cs typeface="Calibri" pitchFamily="34" charset="-120"/>
              </a:rPr>
              <a:t>Totals: 1,286 B client→server, 1,188 B server→client, 2,474 B overall. A tampered byte changes the transcript, so the finished check fails and the handshake aborts.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6  Phase 3 (G1) · Code walkthrough 2</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key schedule forces an attacker to break both X25519 and ML-KEM</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13</a:t>
            </a:r>
            <a:endParaRPr lang="en-US" sz="950" dirty="0"/>
          </a:p>
        </p:txBody>
      </p:sp>
      <p:sp>
        <p:nvSpPr>
          <p:cNvPr id="6" name="Text 4"/>
          <p:cNvSpPr txBox="1"/>
          <p:nvPr/>
        </p:nvSpPr>
        <p:spPr>
          <a:xfrm>
            <a:off x="548640" y="1399032"/>
            <a:ext cx="7040880" cy="237744"/>
          </a:xfrm>
          <a:prstGeom prst="rect">
            <a:avLst/>
          </a:prstGeom>
          <a:noFill/>
          <a:ln/>
        </p:spPr>
        <p:txBody>
          <a:bodyPr wrap="square" lIns="0" tIns="0" rIns="0" bIns="0" rtlCol="0" anchor="t"/>
          <a:lstStyle/>
          <a:p>
            <a:pPr indent="0" marL="0">
              <a:buNone/>
            </a:pPr>
            <a:r>
              <a:rPr lang="en-US" sz="1050" dirty="0">
                <a:solidFill>
                  <a:srgbClr val="5F6B7A"/>
                </a:solidFill>
                <a:latin typeface="Courier New" pitchFamily="34" charset="0"/>
                <a:ea typeface="Courier New" pitchFamily="34" charset="-122"/>
                <a:cs typeface="Courier New" pitchFamily="34" charset="-120"/>
              </a:rPr>
              <a:t>code/hybrid_handshake.py · lines 137–171</a:t>
            </a:r>
            <a:endParaRPr lang="en-US" sz="1050" dirty="0"/>
          </a:p>
        </p:txBody>
      </p:sp>
      <p:sp>
        <p:nvSpPr>
          <p:cNvPr id="7" name="Shape 5"/>
          <p:cNvSpPr/>
          <p:nvPr/>
        </p:nvSpPr>
        <p:spPr>
          <a:xfrm>
            <a:off x="548640" y="1691640"/>
            <a:ext cx="7040880" cy="3611880"/>
          </a:xfrm>
          <a:prstGeom prst="rect">
            <a:avLst/>
          </a:prstGeom>
          <a:solidFill>
            <a:srgbClr val="F6F7F9"/>
          </a:solidFill>
          <a:ln w="9525">
            <a:solidFill>
              <a:srgbClr val="C9CFD8"/>
            </a:solidFill>
            <a:prstDash val="solid"/>
          </a:ln>
        </p:spPr>
      </p:sp>
      <p:sp>
        <p:nvSpPr>
          <p:cNvPr id="8" name="Text 6"/>
          <p:cNvSpPr txBox="1"/>
          <p:nvPr/>
        </p:nvSpPr>
        <p:spPr>
          <a:xfrm>
            <a:off x="731520" y="1819656"/>
            <a:ext cx="6675120" cy="3355848"/>
          </a:xfrm>
          <a:prstGeom prst="rect">
            <a:avLst/>
          </a:prstGeom>
          <a:noFill/>
          <a:ln/>
        </p:spPr>
        <p:txBody>
          <a:bodyPr wrap="square" lIns="0" tIns="0" rIns="0" bIns="0" rtlCol="0" anchor="t"/>
          <a:lstStyle/>
          <a:p>
            <a:pPr indent="0" marL="0">
              <a:buNone/>
            </a:pPr>
            <a:r>
              <a:rPr lang="en-US" sz="1150" dirty="0">
                <a:solidFill>
                  <a:srgbClr val="1F2937"/>
                </a:solidFill>
                <a:latin typeface="Courier New" pitchFamily="34" charset="0"/>
                <a:ea typeface="Courier New" pitchFamily="34" charset="-122"/>
                <a:cs typeface="Courier New" pitchFamily="34" charset="-120"/>
              </a:rPr>
              <a:t>def derive_key(mode, level, ss_classical, ss_pq, transcript):</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h = hashlib.sha3_256()</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h.update(b"CNS-hybrid-v1")         </a:t>
            </a:r>
            <a:pPr indent="0" marL="0">
              <a:buNone/>
            </a:pPr>
            <a:r>
              <a:rPr lang="en-US" sz="1150" dirty="0">
                <a:solidFill>
                  <a:srgbClr val="4F7A5C"/>
                </a:solidFill>
                <a:latin typeface="Courier New" pitchFamily="34" charset="0"/>
                <a:ea typeface="Courier New" pitchFamily="34" charset="-122"/>
                <a:cs typeface="Courier New" pitchFamily="34" charset="-120"/>
              </a:rPr>
              <a:t># domain separation</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h.update(bytes([mode, level]))     </a:t>
            </a:r>
            <a:pPr indent="0" marL="0">
              <a:buNone/>
            </a:pPr>
            <a:r>
              <a:rPr lang="en-US" sz="1150" dirty="0">
                <a:solidFill>
                  <a:srgbClr val="4F7A5C"/>
                </a:solidFill>
                <a:latin typeface="Courier New" pitchFamily="34" charset="0"/>
                <a:ea typeface="Courier New" pitchFamily="34" charset="-122"/>
                <a:cs typeface="Courier New" pitchFamily="34" charset="-120"/>
              </a:rPr>
              <a:t># blocks downgrade</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h.update(ss_classical)             </a:t>
            </a:r>
            <a:pPr indent="0" marL="0">
              <a:buNone/>
            </a:pPr>
            <a:r>
              <a:rPr lang="en-US" sz="1150" dirty="0">
                <a:solidFill>
                  <a:srgbClr val="4F7A5C"/>
                </a:solidFill>
                <a:latin typeface="Courier New" pitchFamily="34" charset="0"/>
                <a:ea typeface="Courier New" pitchFamily="34" charset="-122"/>
                <a:cs typeface="Courier New" pitchFamily="34" charset="-120"/>
              </a:rPr>
              <a:t># X25519 secret</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h.update(ss_pq)                    </a:t>
            </a:r>
            <a:pPr indent="0" marL="0">
              <a:buNone/>
            </a:pPr>
            <a:r>
              <a:rPr lang="en-US" sz="1150" dirty="0">
                <a:solidFill>
                  <a:srgbClr val="4F7A5C"/>
                </a:solidFill>
                <a:latin typeface="Courier New" pitchFamily="34" charset="0"/>
                <a:ea typeface="Courier New" pitchFamily="34" charset="-122"/>
                <a:cs typeface="Courier New" pitchFamily="34" charset="-120"/>
              </a:rPr>
              <a:t># ML-KEM secret</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h.update(transcript)               </a:t>
            </a:r>
            <a:pPr indent="0" marL="0">
              <a:buNone/>
            </a:pPr>
            <a:r>
              <a:rPr lang="en-US" sz="1150" dirty="0">
                <a:solidFill>
                  <a:srgbClr val="4F7A5C"/>
                </a:solidFill>
                <a:latin typeface="Courier New" pitchFamily="34" charset="0"/>
                <a:ea typeface="Courier New" pitchFamily="34" charset="-122"/>
                <a:cs typeface="Courier New" pitchFamily="34" charset="-120"/>
              </a:rPr>
              <a:t># binds both ciphertexts</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return h.digest()</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def _fin(key, transcript, aad):</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nonce = secrets.token_bytes(12)</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return nonce + AESGCM(key).encrypt(nonce, transcript, aad)</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def _check_fin(key, blob, transcript, aad):</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pt = AESGCM(key).decrypt(blob[:12], blob[12:], aad)</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if pt != transcript:</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raise ValueError("finished check failed")  </a:t>
            </a:r>
            <a:pPr indent="0" marL="0">
              <a:buNone/>
            </a:pPr>
            <a:r>
              <a:rPr lang="en-US" sz="1150" dirty="0">
                <a:solidFill>
                  <a:srgbClr val="4F7A5C"/>
                </a:solidFill>
                <a:latin typeface="Courier New" pitchFamily="34" charset="0"/>
                <a:ea typeface="Courier New" pitchFamily="34" charset="-122"/>
                <a:cs typeface="Courier New" pitchFamily="34" charset="-120"/>
              </a:rPr>
              <a:t># fail closed</a:t>
            </a:r>
            <a:endParaRPr lang="en-US" sz="1150" dirty="0"/>
          </a:p>
        </p:txBody>
      </p:sp>
      <p:sp>
        <p:nvSpPr>
          <p:cNvPr id="9" name="Text 7"/>
          <p:cNvSpPr txBox="1"/>
          <p:nvPr/>
        </p:nvSpPr>
        <p:spPr>
          <a:xfrm>
            <a:off x="7955280" y="1371600"/>
            <a:ext cx="3687775" cy="310896"/>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Properties</a:t>
            </a:r>
            <a:endParaRPr lang="en-US" sz="1500" dirty="0"/>
          </a:p>
        </p:txBody>
      </p:sp>
      <p:sp>
        <p:nvSpPr>
          <p:cNvPr id="10" name="Text 8"/>
          <p:cNvSpPr txBox="1"/>
          <p:nvPr/>
        </p:nvSpPr>
        <p:spPr>
          <a:xfrm>
            <a:off x="7955280" y="1783080"/>
            <a:ext cx="3687775" cy="4297680"/>
          </a:xfrm>
          <a:prstGeom prst="rect">
            <a:avLst/>
          </a:prstGeom>
          <a:noFill/>
          <a:ln/>
        </p:spPr>
        <p:txBody>
          <a:bodyPr wrap="square" lIns="0" tIns="0" rIns="0" bIns="0" rtlCol="0" anchor="t"/>
          <a:lstStyle/>
          <a:p>
            <a:pPr marL="203200" indent="-203200">
              <a:spcAft>
                <a:spcPts val="1200"/>
              </a:spcAft>
              <a:buSzPct val="100000"/>
              <a:buChar char="▪"/>
            </a:pPr>
            <a:r>
              <a:rPr lang="en-US" sz="1350" b="1" dirty="0">
                <a:solidFill>
                  <a:srgbClr val="1B2A4A"/>
                </a:solidFill>
                <a:latin typeface="Calibri" pitchFamily="34" charset="0"/>
                <a:ea typeface="Calibri" pitchFamily="34" charset="-122"/>
                <a:cs typeface="Calibri" pitchFamily="34" charset="-120"/>
              </a:rPr>
              <a:t>Concatenation combiner. </a:t>
            </a:r>
            <a:pPr indent="0" marL="0">
              <a:buNone/>
            </a:pPr>
            <a:r>
              <a:rPr lang="en-US" sz="1350" dirty="0">
                <a:solidFill>
                  <a:srgbClr val="222222"/>
                </a:solidFill>
                <a:latin typeface="Calibri" pitchFamily="34" charset="0"/>
                <a:ea typeface="Calibri" pitchFamily="34" charset="-122"/>
                <a:cs typeface="Calibri" pitchFamily="34" charset="-120"/>
              </a:rPr>
              <a:t>With SHA3-256 modelled as a random oracle, K is indistinguishable from random while either secret is unknown (Giacon–Heuer–Poettering, 2018).</a:t>
            </a:r>
            <a:endParaRPr lang="en-US" sz="1350" dirty="0"/>
          </a:p>
          <a:p>
            <a:pPr marL="203200" indent="-203200">
              <a:spcAft>
                <a:spcPts val="1200"/>
              </a:spcAft>
              <a:buSzPct val="100000"/>
              <a:buChar char="▪"/>
            </a:pPr>
            <a:r>
              <a:rPr lang="en-US" sz="1350" b="1" dirty="0">
                <a:solidFill>
                  <a:srgbClr val="1B2A4A"/>
                </a:solidFill>
                <a:latin typeface="Calibri" pitchFamily="34" charset="0"/>
                <a:ea typeface="Calibri" pitchFamily="34" charset="-122"/>
                <a:cs typeface="Calibri" pitchFamily="34" charset="-120"/>
              </a:rPr>
              <a:t>Downgrade detection. </a:t>
            </a:r>
            <a:pPr indent="0" marL="0">
              <a:buNone/>
            </a:pPr>
            <a:r>
              <a:rPr lang="en-US" sz="1350" dirty="0">
                <a:solidFill>
                  <a:srgbClr val="222222"/>
                </a:solidFill>
                <a:latin typeface="Calibri" pitchFamily="34" charset="0"/>
                <a:ea typeface="Calibri" pitchFamily="34" charset="-122"/>
                <a:cs typeface="Calibri" pitchFamily="34" charset="-120"/>
              </a:rPr>
              <a:t>Mode and level are hashed in; flipping hybrid to classical yields two different keys.</a:t>
            </a:r>
            <a:endParaRPr lang="en-US" sz="1350" dirty="0"/>
          </a:p>
          <a:p>
            <a:pPr marL="203200" indent="-203200">
              <a:spcAft>
                <a:spcPts val="1200"/>
              </a:spcAft>
              <a:buSzPct val="100000"/>
              <a:buChar char="▪"/>
            </a:pPr>
            <a:r>
              <a:rPr lang="en-US" sz="1350" b="1" dirty="0">
                <a:solidFill>
                  <a:srgbClr val="1B2A4A"/>
                </a:solidFill>
                <a:latin typeface="Calibri" pitchFamily="34" charset="0"/>
                <a:ea typeface="Calibri" pitchFamily="34" charset="-122"/>
                <a:cs typeface="Calibri" pitchFamily="34" charset="-120"/>
              </a:rPr>
              <a:t>No reflection. </a:t>
            </a:r>
            <a:pPr indent="0" marL="0">
              <a:buNone/>
            </a:pPr>
            <a:r>
              <a:rPr lang="en-US" sz="1350" dirty="0">
                <a:solidFill>
                  <a:srgbClr val="222222"/>
                </a:solidFill>
                <a:latin typeface="Calibri" pitchFamily="34" charset="0"/>
                <a:ea typeface="Calibri" pitchFamily="34" charset="-122"/>
                <a:cs typeface="Calibri" pitchFamily="34" charset="-120"/>
              </a:rPr>
              <a:t>Distinct AAD (c-fin, s-fin) prevents a server finished message being replayed as a client's.</a:t>
            </a:r>
            <a:endParaRPr lang="en-US" sz="1350" dirty="0"/>
          </a:p>
          <a:p>
            <a:pPr marL="203200" indent="-203200">
              <a:spcAft>
                <a:spcPts val="1200"/>
              </a:spcAft>
              <a:buSzPct val="100000"/>
              <a:buChar char="▪"/>
            </a:pPr>
            <a:r>
              <a:rPr lang="en-US" sz="1350" b="1" dirty="0">
                <a:solidFill>
                  <a:srgbClr val="1B2A4A"/>
                </a:solidFill>
                <a:latin typeface="Calibri" pitchFamily="34" charset="0"/>
                <a:ea typeface="Calibri" pitchFamily="34" charset="-122"/>
                <a:cs typeface="Calibri" pitchFamily="34" charset="-120"/>
              </a:rPr>
              <a:t>Forward secrecy. </a:t>
            </a:r>
            <a:pPr indent="0" marL="0">
              <a:buNone/>
            </a:pPr>
            <a:r>
              <a:rPr lang="en-US" sz="1350" dirty="0">
                <a:solidFill>
                  <a:srgbClr val="222222"/>
                </a:solidFill>
                <a:latin typeface="Calibri" pitchFamily="34" charset="0"/>
                <a:ea typeface="Calibri" pitchFamily="34" charset="-122"/>
                <a:cs typeface="Calibri" pitchFamily="34" charset="-120"/>
              </a:rPr>
              <a:t>Fresh ephemeral key pairs in every session.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6  Results · Phase 3 (G1)</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Hybrid protection adds only 64 bytes over pure ML-KEM-768</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results/handshake_results.csv; 100 handshakes per configuration over localhost (latency excludes radio propagation)</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14</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2286000"/>
                <a:gridCol w="1097280"/>
                <a:gridCol w="1280160"/>
                <a:gridCol w="1280160"/>
                <a:gridCol w="1097280"/>
              </a:tblGrid>
              <a:tr h="475488">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Mode</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B2A4A"/>
                          </a:solidFill>
                          <a:latin typeface="Calibri" pitchFamily="34" charset="0"/>
                          <a:ea typeface="Calibri" pitchFamily="34" charset="-122"/>
                          <a:cs typeface="Calibri" pitchFamily="34" charset="-120"/>
                        </a:rPr>
                        <a:t>Median ms</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B2A4A"/>
                          </a:solidFill>
                          <a:latin typeface="Calibri" pitchFamily="34" charset="0"/>
                          <a:ea typeface="Calibri" pitchFamily="34" charset="-122"/>
                          <a:cs typeface="Calibri" pitchFamily="34" charset="-120"/>
                        </a:rPr>
                        <a:t>C → S bytes</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B2A4A"/>
                          </a:solidFill>
                          <a:latin typeface="Calibri" pitchFamily="34" charset="0"/>
                          <a:ea typeface="Calibri" pitchFamily="34" charset="-122"/>
                          <a:cs typeface="Calibri" pitchFamily="34" charset="-120"/>
                        </a:rPr>
                        <a:t>S → C bytes</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B2A4A"/>
                          </a:solidFill>
                          <a:latin typeface="Calibri" pitchFamily="34" charset="0"/>
                          <a:ea typeface="Calibri" pitchFamily="34" charset="-122"/>
                          <a:cs typeface="Calibri" pitchFamily="34" charset="-120"/>
                        </a:rPr>
                        <a:t>Total bytes</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Classical (X25519)</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1.056</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102</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202</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Pure ML-KEM-512</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1.394</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870</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836</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1,706</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Pure ML-KEM-768</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1.642</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1,254</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1,156</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2,410</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Hybrid-512</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2.076</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902</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868</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1,770</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Hybrid-768 (TLS 1.3 group)</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E6EBF2"/>
                    </a:solidFill>
                  </a:tcPr>
                </a:tc>
                <a:tc>
                  <a:txBody>
                    <a:bodyPr/>
                    <a:lstStyle/>
                    <a:p>
                      <a:pPr algn="r" indent="0" marL="0">
                        <a:buNone/>
                      </a:pPr>
                      <a:r>
                        <a:rPr lang="en-US" sz="1300" b="1" dirty="0">
                          <a:solidFill>
                            <a:srgbClr val="222222"/>
                          </a:solidFill>
                          <a:latin typeface="Calibri" pitchFamily="34" charset="0"/>
                          <a:ea typeface="Calibri" pitchFamily="34" charset="-122"/>
                          <a:cs typeface="Calibri" pitchFamily="34" charset="-120"/>
                        </a:rPr>
                        <a:t>2.257</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E6EBF2"/>
                    </a:solidFill>
                  </a:tcPr>
                </a:tc>
                <a:tc>
                  <a:txBody>
                    <a:bodyPr/>
                    <a:lstStyle/>
                    <a:p>
                      <a:pPr algn="r" indent="0" marL="0">
                        <a:buNone/>
                      </a:pPr>
                      <a:r>
                        <a:rPr lang="en-US" sz="1300" b="1" dirty="0">
                          <a:solidFill>
                            <a:srgbClr val="222222"/>
                          </a:solidFill>
                          <a:latin typeface="Calibri" pitchFamily="34" charset="0"/>
                          <a:ea typeface="Calibri" pitchFamily="34" charset="-122"/>
                          <a:cs typeface="Calibri" pitchFamily="34" charset="-120"/>
                        </a:rPr>
                        <a:t>1,286</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E6EBF2"/>
                    </a:solidFill>
                  </a:tcPr>
                </a:tc>
                <a:tc>
                  <a:txBody>
                    <a:bodyPr/>
                    <a:lstStyle/>
                    <a:p>
                      <a:pPr algn="r" indent="0" marL="0">
                        <a:buNone/>
                      </a:pPr>
                      <a:r>
                        <a:rPr lang="en-US" sz="1300" b="1" dirty="0">
                          <a:solidFill>
                            <a:srgbClr val="222222"/>
                          </a:solidFill>
                          <a:latin typeface="Calibri" pitchFamily="34" charset="0"/>
                          <a:ea typeface="Calibri" pitchFamily="34" charset="-122"/>
                          <a:cs typeface="Calibri" pitchFamily="34" charset="-120"/>
                        </a:rPr>
                        <a:t>1,188</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E6EBF2"/>
                    </a:solidFill>
                  </a:tcPr>
                </a:tc>
                <a:tc>
                  <a:txBody>
                    <a:bodyPr/>
                    <a:lstStyle/>
                    <a:p>
                      <a:pPr algn="r" indent="0" marL="0">
                        <a:buNone/>
                      </a:pPr>
                      <a:r>
                        <a:rPr lang="en-US" sz="1300" b="1" dirty="0">
                          <a:solidFill>
                            <a:srgbClr val="222222"/>
                          </a:solidFill>
                          <a:latin typeface="Calibri" pitchFamily="34" charset="0"/>
                          <a:ea typeface="Calibri" pitchFamily="34" charset="-122"/>
                          <a:cs typeface="Calibri" pitchFamily="34" charset="-120"/>
                        </a:rPr>
                        <a:t>2,474</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E6EBF2"/>
                    </a:solidFill>
                  </a:tcPr>
                </a:tc>
              </a:tr>
            </a:tbl>
          </a:graphicData>
        </a:graphic>
      </p:graphicFrame>
      <p:sp>
        <p:nvSpPr>
          <p:cNvPr id="8" name="Text 5"/>
          <p:cNvSpPr txBox="1"/>
          <p:nvPr/>
        </p:nvSpPr>
        <p:spPr>
          <a:xfrm>
            <a:off x="548640" y="4315968"/>
            <a:ext cx="7040880" cy="256032"/>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C → S: client to server; S → C: server to client.</a:t>
            </a:r>
            <a:endParaRPr lang="en-US" sz="1100" dirty="0"/>
          </a:p>
        </p:txBody>
      </p:sp>
      <p:sp>
        <p:nvSpPr>
          <p:cNvPr id="9" name="Text 6"/>
          <p:cNvSpPr txBox="1"/>
          <p:nvPr/>
        </p:nvSpPr>
        <p:spPr>
          <a:xfrm>
            <a:off x="548640" y="4663440"/>
            <a:ext cx="7040880"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Byte-accounting self-test</a:t>
            </a:r>
            <a:endParaRPr lang="en-US" sz="1400" dirty="0"/>
          </a:p>
        </p:txBody>
      </p:sp>
      <p:sp>
        <p:nvSpPr>
          <p:cNvPr id="10" name="Text 7"/>
          <p:cNvSpPr txBox="1"/>
          <p:nvPr/>
        </p:nvSpPr>
        <p:spPr>
          <a:xfrm>
            <a:off x="548640" y="4983480"/>
            <a:ext cx="7040880" cy="91440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Bytes predicted from the wire format equal the bytes measured on the socket in all five modes. Example, hybrid-768 client → server: 4 + 2 + 32 + 1,184 = 1,222 B, plus a 64 B finished message = 1,286 B.</a:t>
            </a:r>
            <a:endParaRPr lang="en-US" sz="1300" dirty="0"/>
          </a:p>
        </p:txBody>
      </p:sp>
      <p:sp>
        <p:nvSpPr>
          <p:cNvPr id="11" name="Shape 8"/>
          <p:cNvSpPr/>
          <p:nvPr/>
        </p:nvSpPr>
        <p:spPr>
          <a:xfrm>
            <a:off x="7909560" y="1371600"/>
            <a:ext cx="3733495" cy="4297680"/>
          </a:xfrm>
          <a:prstGeom prst="rect">
            <a:avLst/>
          </a:prstGeom>
          <a:solidFill>
            <a:srgbClr val="F3F5F8"/>
          </a:solidFill>
          <a:ln/>
        </p:spPr>
      </p:sp>
      <p:sp>
        <p:nvSpPr>
          <p:cNvPr id="12" name="Text 9"/>
          <p:cNvSpPr txBox="1"/>
          <p:nvPr/>
        </p:nvSpPr>
        <p:spPr>
          <a:xfrm>
            <a:off x="8138160" y="1554480"/>
            <a:ext cx="3276295"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Key points</a:t>
            </a:r>
            <a:endParaRPr lang="en-US" sz="1400" dirty="0"/>
          </a:p>
        </p:txBody>
      </p:sp>
      <p:sp>
        <p:nvSpPr>
          <p:cNvPr id="13" name="Text 10"/>
          <p:cNvSpPr txBox="1"/>
          <p:nvPr/>
        </p:nvSpPr>
        <p:spPr>
          <a:xfrm>
            <a:off x="8138160" y="1938528"/>
            <a:ext cx="3276295" cy="3566160"/>
          </a:xfrm>
          <a:prstGeom prst="rect">
            <a:avLst/>
          </a:prstGeom>
          <a:noFill/>
          <a:ln/>
        </p:spPr>
        <p:txBody>
          <a:bodyPr wrap="square" lIns="0" tIns="0" rIns="0" bIns="0" rtlCol="0" anchor="t"/>
          <a:lstStyle/>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Hybrid-768 against pure ML-KEM-768: +64 B in total (+32 B each way) and about +0.6 ms.</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Moving from classical to post-quantum at all costs about 2.2 KB.</a:t>
            </a:r>
            <a:endParaRPr lang="en-US" sz="1350" dirty="0"/>
          </a:p>
          <a:p>
            <a:pPr marL="203200" indent="-203200">
              <a:spcAft>
                <a:spcPts val="900"/>
              </a:spcAft>
              <a:buSzPct val="100000"/>
              <a:buChar char="▪"/>
            </a:pPr>
            <a:r>
              <a:rPr lang="en-US" sz="1350" dirty="0">
                <a:solidFill>
                  <a:srgbClr val="222222"/>
                </a:solidFill>
                <a:latin typeface="Calibri" pitchFamily="34" charset="0"/>
                <a:ea typeface="Calibri" pitchFamily="34" charset="-122"/>
                <a:cs typeface="Calibri" pitchFamily="34" charset="-120"/>
              </a:rPr>
              <a:t>Once the post-quantum cost is paid, the classical fallback is almost free. The paper's pure post-quantum choice is hard to justify.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7  Phase 4 (G4) · Code walkthrough 3</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Timing analysis interleaves input classes, then tests for a trend</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15</a:t>
            </a:r>
            <a:endParaRPr lang="en-US" sz="950" dirty="0"/>
          </a:p>
        </p:txBody>
      </p:sp>
      <p:sp>
        <p:nvSpPr>
          <p:cNvPr id="6" name="Text 4"/>
          <p:cNvSpPr txBox="1"/>
          <p:nvPr/>
        </p:nvSpPr>
        <p:spPr>
          <a:xfrm>
            <a:off x="548640" y="1399032"/>
            <a:ext cx="7040880" cy="237744"/>
          </a:xfrm>
          <a:prstGeom prst="rect">
            <a:avLst/>
          </a:prstGeom>
          <a:noFill/>
          <a:ln/>
        </p:spPr>
        <p:txBody>
          <a:bodyPr wrap="square" lIns="0" tIns="0" rIns="0" bIns="0" rtlCol="0" anchor="t"/>
          <a:lstStyle/>
          <a:p>
            <a:pPr indent="0" marL="0">
              <a:buNone/>
            </a:pPr>
            <a:r>
              <a:rPr lang="en-US" sz="1050" dirty="0">
                <a:solidFill>
                  <a:srgbClr val="5F6B7A"/>
                </a:solidFill>
                <a:latin typeface="Courier New" pitchFamily="34" charset="0"/>
                <a:ea typeface="Courier New" pitchFamily="34" charset="-122"/>
                <a:cs typeface="Courier New" pitchFamily="34" charset="-120"/>
              </a:rPr>
              <a:t>code/timing_analysis.py · lines 101–138</a:t>
            </a:r>
            <a:endParaRPr lang="en-US" sz="1050" dirty="0"/>
          </a:p>
        </p:txBody>
      </p:sp>
      <p:sp>
        <p:nvSpPr>
          <p:cNvPr id="7" name="Shape 5"/>
          <p:cNvSpPr/>
          <p:nvPr/>
        </p:nvSpPr>
        <p:spPr>
          <a:xfrm>
            <a:off x="548640" y="1691640"/>
            <a:ext cx="7040880" cy="3749040"/>
          </a:xfrm>
          <a:prstGeom prst="rect">
            <a:avLst/>
          </a:prstGeom>
          <a:solidFill>
            <a:srgbClr val="F6F7F9"/>
          </a:solidFill>
          <a:ln w="9525">
            <a:solidFill>
              <a:srgbClr val="C9CFD8"/>
            </a:solidFill>
            <a:prstDash val="solid"/>
          </a:ln>
        </p:spPr>
      </p:sp>
      <p:sp>
        <p:nvSpPr>
          <p:cNvPr id="8" name="Text 6"/>
          <p:cNvSpPr txBox="1"/>
          <p:nvPr/>
        </p:nvSpPr>
        <p:spPr>
          <a:xfrm>
            <a:off x="731520" y="1819656"/>
            <a:ext cx="6675120" cy="3493008"/>
          </a:xfrm>
          <a:prstGeom prst="rect">
            <a:avLst/>
          </a:prstGeom>
          <a:noFill/>
          <a:ln/>
        </p:spPr>
        <p:txBody>
          <a:bodyPr wrap="square" lIns="0" tIns="0" rIns="0" bIns="0" rtlCol="0" anchor="t"/>
          <a:lstStyle/>
          <a:p>
            <a:pPr indent="0" marL="0">
              <a:buNone/>
            </a:pPr>
            <a:r>
              <a:rPr lang="en-US" sz="1200" dirty="0">
                <a:solidFill>
                  <a:srgbClr val="1F2937"/>
                </a:solidFill>
                <a:latin typeface="Courier New" pitchFamily="34" charset="0"/>
                <a:ea typeface="Courier New" pitchFamily="34" charset="-122"/>
                <a:cs typeface="Courier New" pitchFamily="34" charset="-120"/>
              </a:rPr>
              <a:t>def naive_compare(a, b):          </a:t>
            </a:r>
            <a:pPr indent="0" marL="0">
              <a:buNone/>
            </a:pPr>
            <a:r>
              <a:rPr lang="en-US" sz="1200" dirty="0">
                <a:solidFill>
                  <a:srgbClr val="4F7A5C"/>
                </a:solidFill>
                <a:latin typeface="Courier New" pitchFamily="34" charset="0"/>
                <a:ea typeface="Courier New" pitchFamily="34" charset="-122"/>
                <a:cs typeface="Courier New" pitchFamily="34" charset="-120"/>
              </a:rPr>
              <a:t># the leaky textbook version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for x, y in zip(a, b):</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if x != y:</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return False          </a:t>
            </a:r>
            <a:pPr indent="0" marL="0">
              <a:buNone/>
            </a:pPr>
            <a:r>
              <a:rPr lang="en-US" sz="1200" dirty="0">
                <a:solidFill>
                  <a:srgbClr val="4F7A5C"/>
                </a:solidFill>
                <a:latin typeface="Courier New" pitchFamily="34" charset="0"/>
                <a:ea typeface="Courier New" pitchFamily="34" charset="-122"/>
                <a:cs typeface="Courier New" pitchFamily="34" charset="-120"/>
              </a:rPr>
              <a:t># early exit leaks position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return True</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def collect_interleaved(runners, n_samples, batch):</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gc.disable()</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for _ in range(n_samples):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for name, r in runners.items():   </a:t>
            </a:r>
            <a:pPr indent="0" marL="0">
              <a:buNone/>
            </a:pPr>
            <a:r>
              <a:rPr lang="en-US" sz="1200" dirty="0">
                <a:solidFill>
                  <a:srgbClr val="4F7A5C"/>
                </a:solidFill>
                <a:latin typeface="Courier New" pitchFamily="34" charset="0"/>
                <a:ea typeface="Courier New" pitchFamily="34" charset="-122"/>
                <a:cs typeface="Courier New" pitchFamily="34" charset="-120"/>
              </a:rPr>
              <a:t># round-robin</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t0 = time.perf_counter_ns()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for _ in range(batch): r()</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out[name].append((perf_counter_ns() - t0) / batch)</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gc.enable()</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return out</a:t>
            </a:r>
            <a:endParaRPr lang="en-US" sz="1200" dirty="0"/>
          </a:p>
        </p:txBody>
      </p:sp>
      <p:sp>
        <p:nvSpPr>
          <p:cNvPr id="9" name="Text 7"/>
          <p:cNvSpPr txBox="1"/>
          <p:nvPr/>
        </p:nvSpPr>
        <p:spPr>
          <a:xfrm>
            <a:off x="548640" y="5577840"/>
            <a:ext cx="7040880" cy="502920"/>
          </a:xfrm>
          <a:prstGeom prst="rect">
            <a:avLst/>
          </a:prstGeom>
          <a:noFill/>
          <a:ln/>
        </p:spPr>
        <p:txBody>
          <a:bodyPr wrap="square" lIns="0" tIns="0" rIns="0" bIns="0" rtlCol="0" anchor="t"/>
          <a:lstStyle/>
          <a:p>
            <a:pPr indent="0" marL="0">
              <a:buNone/>
            </a:pPr>
            <a:r>
              <a:rPr lang="en-US" sz="1200" i="1" dirty="0">
                <a:solidFill>
                  <a:srgbClr val="5F6B7A"/>
                </a:solidFill>
                <a:latin typeface="Calibri" pitchFamily="34" charset="0"/>
                <a:ea typeface="Calibri" pitchFamily="34" charset="-122"/>
                <a:cs typeface="Calibri" pitchFamily="34" charset="-120"/>
              </a:rPr>
              <a:t>Experiment A: tag comparison against matching-prefix length.  Experiment B: ML-KEM-512 decapsulation of valid, one-bit-flipped and random ciphertexts.</a:t>
            </a:r>
            <a:endParaRPr lang="en-US" sz="1200" dirty="0"/>
          </a:p>
        </p:txBody>
      </p:sp>
      <p:sp>
        <p:nvSpPr>
          <p:cNvPr id="10" name="Text 8"/>
          <p:cNvSpPr txBox="1"/>
          <p:nvPr/>
        </p:nvSpPr>
        <p:spPr>
          <a:xfrm>
            <a:off x="7955280" y="1371600"/>
            <a:ext cx="3687775" cy="310896"/>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Why round-robin</a:t>
            </a:r>
            <a:endParaRPr lang="en-US" sz="1500" dirty="0"/>
          </a:p>
        </p:txBody>
      </p:sp>
      <p:sp>
        <p:nvSpPr>
          <p:cNvPr id="11" name="Text 9"/>
          <p:cNvSpPr txBox="1"/>
          <p:nvPr/>
        </p:nvSpPr>
        <p:spPr>
          <a:xfrm>
            <a:off x="7955280" y="1737360"/>
            <a:ext cx="3687775" cy="1188720"/>
          </a:xfrm>
          <a:prstGeom prst="rect">
            <a:avLst/>
          </a:prstGeom>
          <a:noFill/>
          <a:ln/>
        </p:spPr>
        <p:txBody>
          <a:bodyPr wrap="square" lIns="0" tIns="0" rIns="0" bIns="0" rtlCol="0" anchor="t"/>
          <a:lstStyle/>
          <a:p>
            <a:pPr indent="0" marL="0">
              <a:buNone/>
            </a:pPr>
            <a:r>
              <a:rPr lang="en-US" sz="1350" dirty="0">
                <a:solidFill>
                  <a:srgbClr val="222222"/>
                </a:solidFill>
                <a:latin typeface="Calibri" pitchFamily="34" charset="0"/>
                <a:ea typeface="Calibri" pitchFamily="34" charset="-122"/>
                <a:cs typeface="Calibri" pitchFamily="34" charset="-120"/>
              </a:rPr>
              <a:t>Processor frequency and temperature drift during a run. Timing one class to completion lets that drift align with the class label and create a false difference.</a:t>
            </a:r>
            <a:endParaRPr lang="en-US" sz="1350" dirty="0"/>
          </a:p>
        </p:txBody>
      </p:sp>
      <p:sp>
        <p:nvSpPr>
          <p:cNvPr id="12" name="Shape 10"/>
          <p:cNvSpPr/>
          <p:nvPr/>
        </p:nvSpPr>
        <p:spPr>
          <a:xfrm>
            <a:off x="7955280" y="3154680"/>
            <a:ext cx="3687775" cy="2286000"/>
          </a:xfrm>
          <a:prstGeom prst="rect">
            <a:avLst/>
          </a:prstGeom>
          <a:solidFill>
            <a:srgbClr val="F3F5F8"/>
          </a:solidFill>
          <a:ln/>
        </p:spPr>
      </p:sp>
      <p:sp>
        <p:nvSpPr>
          <p:cNvPr id="13" name="Text 11"/>
          <p:cNvSpPr txBox="1"/>
          <p:nvPr/>
        </p:nvSpPr>
        <p:spPr>
          <a:xfrm>
            <a:off x="8183880" y="3319272"/>
            <a:ext cx="3230575"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Verdict rule</a:t>
            </a:r>
            <a:endParaRPr lang="en-US" sz="1400" dirty="0"/>
          </a:p>
        </p:txBody>
      </p:sp>
      <p:sp>
        <p:nvSpPr>
          <p:cNvPr id="14" name="Text 12"/>
          <p:cNvSpPr txBox="1"/>
          <p:nvPr/>
        </p:nvSpPr>
        <p:spPr>
          <a:xfrm>
            <a:off x="8183880" y="3703320"/>
            <a:ext cx="3230575" cy="1645920"/>
          </a:xfrm>
          <a:prstGeom prst="rect">
            <a:avLst/>
          </a:prstGeom>
          <a:noFill/>
          <a:ln/>
        </p:spPr>
        <p:txBody>
          <a:bodyPr wrap="square" lIns="0" tIns="0" rIns="0" bIns="0" rtlCol="0" anchor="t"/>
          <a:lstStyle/>
          <a:p>
            <a:pPr indent="0" marL="0">
              <a:spcAft>
                <a:spcPts val="600"/>
              </a:spcAft>
              <a:buNone/>
            </a:pPr>
            <a:r>
              <a:rPr lang="en-US" sz="1300" dirty="0">
                <a:solidFill>
                  <a:srgbClr val="222222"/>
                </a:solidFill>
                <a:latin typeface="Calibri" pitchFamily="34" charset="0"/>
                <a:ea typeface="Calibri" pitchFamily="34" charset="-122"/>
                <a:cs typeface="Calibri" pitchFamily="34" charset="-120"/>
              </a:rPr>
              <a:t>A leak is declared only if</a:t>
            </a:r>
            <a:endParaRPr lang="en-US" sz="1300" dirty="0"/>
          </a:p>
          <a:p>
            <a:pPr indent="0" marL="0">
              <a:spcAft>
                <a:spcPts val="600"/>
              </a:spcAft>
              <a:buNone/>
            </a:pPr>
            <a:r>
              <a:rPr lang="en-US" sz="1300" b="1" dirty="0">
                <a:solidFill>
                  <a:srgbClr val="1B2A4A"/>
                </a:solidFill>
                <a:latin typeface="Calibri" pitchFamily="34" charset="0"/>
                <a:ea typeface="Calibri" pitchFamily="34" charset="-122"/>
                <a:cs typeface="Calibri" pitchFamily="34" charset="-120"/>
              </a:rPr>
              <a:t>Pearson r &gt; 0.9  and  |Welch z| &gt; 3</a:t>
            </a:r>
            <a:endParaRPr lang="en-US" sz="1300" dirty="0"/>
          </a:p>
          <a:p>
            <a:pPr indent="0" marL="0">
              <a:spcAft>
                <a:spcPts val="600"/>
              </a:spcAft>
              <a:buNone/>
            </a:pPr>
            <a:r>
              <a:rPr lang="en-US" sz="1300" dirty="0">
                <a:solidFill>
                  <a:srgbClr val="5F6B7A"/>
                </a:solidFill>
                <a:latin typeface="Calibri" pitchFamily="34" charset="0"/>
                <a:ea typeface="Calibri" pitchFamily="34" charset="-122"/>
                <a:cs typeface="Calibri" pitchFamily="34" charset="-120"/>
              </a:rPr>
              <a:t>A strong trend with a tiny effect is not exploitable; a large z without a trend is noise, not a byte-by-byte oracle.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7  Results · Phase 4 (G4)</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A naive comparison leaks the tag byte by byte; ML-KEM decapsulation does not</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results/timing_analysis.csv; 300 interleaved batch-mean samples per class, pinned P-core</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16</a:t>
            </a:r>
            <a:endParaRPr lang="en-US" sz="950" dirty="0"/>
          </a:p>
        </p:txBody>
      </p:sp>
      <p:graphicFrame>
        <p:nvGraphicFramePr>
          <p:cNvPr id="7" name="Chart 0" descr=""/>
          <p:cNvGraphicFramePr/>
          <p:nvPr/>
        </p:nvGraphicFramePr>
        <p:xfrm>
          <a:off x="548640" y="1371600"/>
          <a:ext cx="6309360" cy="46634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178040" y="1371600"/>
            <a:ext cx="4465015"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Experiment B: ML-KEM-512 decapsulation</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178040" y="1737360"/>
          <a:ext cx="4465015" cy="914400"/>
        </p:xfrm>
        <a:graphic>
          <a:graphicData uri="http://schemas.openxmlformats.org/drawingml/2006/table">
            <a:tbl>
              <a:tblPr/>
              <a:tblGrid>
                <a:gridCol w="1463040"/>
                <a:gridCol w="1051560"/>
                <a:gridCol w="1234440"/>
                <a:gridCol w="713232"/>
              </a:tblGrid>
              <a:tr h="384048">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Ciphertext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4A"/>
                          </a:solidFill>
                          <a:latin typeface="Calibri" pitchFamily="34" charset="0"/>
                          <a:ea typeface="Calibri" pitchFamily="34" charset="-122"/>
                          <a:cs typeface="Calibri" pitchFamily="34" charset="-120"/>
                        </a:rPr>
                        <a:t>Median ns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4A"/>
                          </a:solidFill>
                          <a:latin typeface="Calibri" pitchFamily="34" charset="0"/>
                          <a:ea typeface="Calibri" pitchFamily="34" charset="-122"/>
                          <a:cs typeface="Calibri" pitchFamily="34" charset="-120"/>
                        </a:rPr>
                        <a:t>Δ vs valid</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B2A4A"/>
                          </a:solidFill>
                          <a:latin typeface="Calibri" pitchFamily="34" charset="0"/>
                          <a:ea typeface="Calibri" pitchFamily="34" charset="-122"/>
                          <a:cs typeface="Calibri" pitchFamily="34" charset="-120"/>
                        </a:rPr>
                        <a:t>Welch z</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Valid</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86,085</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One bit flipped</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86,110</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+25 (0.03%)</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Random bytes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86,090</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+5 (0.01%)</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−0.3</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10" name="Shape 6"/>
          <p:cNvSpPr/>
          <p:nvPr/>
        </p:nvSpPr>
        <p:spPr>
          <a:xfrm>
            <a:off x="7178040" y="3520440"/>
            <a:ext cx="4465015" cy="2514600"/>
          </a:xfrm>
          <a:prstGeom prst="rect">
            <a:avLst/>
          </a:prstGeom>
          <a:solidFill>
            <a:srgbClr val="F3F5F8"/>
          </a:solidFill>
          <a:ln/>
        </p:spPr>
      </p:sp>
      <p:sp>
        <p:nvSpPr>
          <p:cNvPr id="11" name="Text 7"/>
          <p:cNvSpPr txBox="1"/>
          <p:nvPr/>
        </p:nvSpPr>
        <p:spPr>
          <a:xfrm>
            <a:off x="7406640" y="3703320"/>
            <a:ext cx="4007815"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Findings</a:t>
            </a:r>
            <a:endParaRPr lang="en-US" sz="1400" dirty="0"/>
          </a:p>
        </p:txBody>
      </p:sp>
      <p:sp>
        <p:nvSpPr>
          <p:cNvPr id="12" name="Text 8"/>
          <p:cNvSpPr txBox="1"/>
          <p:nvPr/>
        </p:nvSpPr>
        <p:spPr>
          <a:xfrm>
            <a:off x="7406640" y="4087368"/>
            <a:ext cx="4007815" cy="178308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Naive loop: r = +1.000, z = 70.5. Each correct byte adds about 67 ns, so a 2²⁵⁶ search falls to at most 256 × 32 trials.</a:t>
            </a:r>
            <a:endParaRPr lang="en-US" sz="1250" dirty="0"/>
          </a:p>
          <a:p>
            <a:pPr marL="203200" indent="-203200">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hmac.compare_digest varies by 0.9 ns across all prefixes: flat.</a:t>
            </a:r>
            <a:endParaRPr lang="en-US" sz="1250" dirty="0"/>
          </a:p>
          <a:p>
            <a:pPr marL="203200" indent="-203200">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ML-KEM decapsulation is constant-time at this resolution: |z| ≤ 1.5.</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7  Results · Phase 4 (G4)</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Measurement order alone can create a leak that does not exist</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results/timing_analysis.csv vs results/timing_analysis_sequential.csv (python timing_analysis.py --sequential)</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2743200"/>
                <a:gridCol w="1920240"/>
                <a:gridCol w="1097280"/>
                <a:gridCol w="3136392"/>
              </a:tblGrid>
              <a:tr h="502920">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Collection design</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Order of measurement</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B2A4A"/>
                          </a:solidFill>
                          <a:latin typeface="Calibri" pitchFamily="34" charset="0"/>
                          <a:ea typeface="Calibri" pitchFamily="34" charset="-122"/>
                          <a:cs typeface="Calibri" pitchFamily="34" charset="-120"/>
                        </a:rPr>
                        <a:t>Δ random vs valid</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b="1" dirty="0">
                          <a:solidFill>
                            <a:srgbClr val="1B2A4A"/>
                          </a:solidFill>
                          <a:latin typeface="Calibri" pitchFamily="34" charset="0"/>
                          <a:ea typeface="Calibri" pitchFamily="34" charset="-122"/>
                          <a:cs typeface="Calibri" pitchFamily="34" charset="-120"/>
                        </a:rPr>
                        <a:t>Welch z</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Reported verdict</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Interleaved (correct)</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Classes timed round-robin</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+5 ns (0.01%)</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−0.3</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2E6B45"/>
                          </a:solidFill>
                          <a:latin typeface="Calibri" pitchFamily="34" charset="0"/>
                          <a:ea typeface="Calibri" pitchFamily="34" charset="-122"/>
                          <a:cs typeface="Calibri" pitchFamily="34" charset="-120"/>
                        </a:rPr>
                        <a:t>Constant-time, no leak</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Sequential (control)</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All of one class, then the next</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+155 ns (0.18%)</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A23B2C"/>
                          </a:solidFill>
                          <a:latin typeface="Calibri" pitchFamily="34" charset="0"/>
                          <a:ea typeface="Calibri" pitchFamily="34" charset="-122"/>
                          <a:cs typeface="Calibri" pitchFamily="34" charset="-120"/>
                        </a:rPr>
                        <a:t>Timing difference (oracle risk)</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graphicFrame>
        <p:nvGraphicFramePr>
          <p:cNvPr id="8" name="Chart 0" descr=""/>
          <p:cNvGraphicFramePr/>
          <p:nvPr/>
        </p:nvGraphicFramePr>
        <p:xfrm>
          <a:off x="548640" y="3154680"/>
          <a:ext cx="5852160" cy="292608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6766560" y="3154680"/>
            <a:ext cx="4876495" cy="2926080"/>
          </a:xfrm>
          <a:prstGeom prst="rect">
            <a:avLst/>
          </a:prstGeom>
          <a:solidFill>
            <a:srgbClr val="F3F5F8"/>
          </a:solidFill>
          <a:ln/>
        </p:spPr>
      </p:sp>
      <p:sp>
        <p:nvSpPr>
          <p:cNvPr id="10" name="Text 6"/>
          <p:cNvSpPr txBox="1"/>
          <p:nvPr/>
        </p:nvSpPr>
        <p:spPr>
          <a:xfrm>
            <a:off x="6995160" y="3337560"/>
            <a:ext cx="4419295" cy="292608"/>
          </a:xfrm>
          <a:prstGeom prst="rect">
            <a:avLst/>
          </a:prstGeom>
          <a:noFill/>
          <a:ln/>
        </p:spPr>
        <p:txBody>
          <a:bodyPr wrap="square" lIns="0" tIns="0" rIns="0" bIns="0" rtlCol="0" anchor="t"/>
          <a:lstStyle/>
          <a:p>
            <a:pPr indent="0" marL="0">
              <a:buNone/>
            </a:pPr>
            <a:r>
              <a:rPr lang="en-US" sz="1400" b="1" dirty="0">
                <a:solidFill>
                  <a:srgbClr val="1B2A4A"/>
                </a:solidFill>
                <a:latin typeface="Calibri" pitchFamily="34" charset="0"/>
                <a:ea typeface="Calibri" pitchFamily="34" charset="-122"/>
                <a:cs typeface="Calibri" pitchFamily="34" charset="-120"/>
              </a:rPr>
              <a:t>Interpretation</a:t>
            </a:r>
            <a:endParaRPr lang="en-US" sz="1400" dirty="0"/>
          </a:p>
        </p:txBody>
      </p:sp>
      <p:sp>
        <p:nvSpPr>
          <p:cNvPr id="11" name="Text 7"/>
          <p:cNvSpPr txBox="1"/>
          <p:nvPr/>
        </p:nvSpPr>
        <p:spPr>
          <a:xfrm>
            <a:off x="6995160" y="3721608"/>
            <a:ext cx="4419295" cy="219456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Nothing in the cryptography changes between the two rows; only the order of measurement does.</a:t>
            </a:r>
            <a:endParaRPr lang="en-US" sz="1250" dirty="0"/>
          </a:p>
          <a:p>
            <a:pPr marL="203200" indent="-203200">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The phantom difference is processor drift aligned with class order.</a:t>
            </a:r>
            <a:endParaRPr lang="en-US" sz="1250" dirty="0"/>
          </a:p>
          <a:p>
            <a:pPr marL="203200" indent="-203200">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More samples would not remove it; they would report the bias with more confidence.</a:t>
            </a:r>
            <a:endParaRPr lang="en-US" sz="1250" dirty="0"/>
          </a:p>
          <a:p>
            <a:pPr marL="203200" indent="-203200">
              <a:spcAft>
                <a:spcPts val="900"/>
              </a:spcAft>
              <a:buSzPct val="100000"/>
              <a:buChar char="▪"/>
            </a:pPr>
            <a:r>
              <a:rPr lang="en-US" sz="1250" dirty="0">
                <a:solidFill>
                  <a:srgbClr val="222222"/>
                </a:solidFill>
                <a:latin typeface="Calibri" pitchFamily="34" charset="0"/>
                <a:ea typeface="Calibri" pitchFamily="34" charset="-122"/>
                <a:cs typeface="Calibri" pitchFamily="34" charset="-120"/>
              </a:rPr>
              <a:t>A stated methodology matters more than the headline number, which is the core critique of the base paper.</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8  Phase 5 (G5) · Code walkthrough 4 and result</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paper's four latencies imply four different processor clocks</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results/pqm4_comparison.csv; pqm4 clean-C cycle counts; paper latencies from its Table 6, declared clock from its Table 3</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18</a:t>
            </a:r>
            <a:endParaRPr lang="en-US" sz="950" dirty="0"/>
          </a:p>
        </p:txBody>
      </p:sp>
      <p:sp>
        <p:nvSpPr>
          <p:cNvPr id="7" name="Text 5"/>
          <p:cNvSpPr txBox="1"/>
          <p:nvPr/>
        </p:nvSpPr>
        <p:spPr>
          <a:xfrm>
            <a:off x="548640" y="1399032"/>
            <a:ext cx="5852160" cy="237744"/>
          </a:xfrm>
          <a:prstGeom prst="rect">
            <a:avLst/>
          </a:prstGeom>
          <a:noFill/>
          <a:ln/>
        </p:spPr>
        <p:txBody>
          <a:bodyPr wrap="square" lIns="0" tIns="0" rIns="0" bIns="0" rtlCol="0" anchor="t"/>
          <a:lstStyle/>
          <a:p>
            <a:pPr indent="0" marL="0">
              <a:buNone/>
            </a:pPr>
            <a:r>
              <a:rPr lang="en-US" sz="1050" dirty="0">
                <a:solidFill>
                  <a:srgbClr val="5F6B7A"/>
                </a:solidFill>
                <a:latin typeface="Courier New" pitchFamily="34" charset="0"/>
                <a:ea typeface="Courier New" pitchFamily="34" charset="-122"/>
                <a:cs typeface="Courier New" pitchFamily="34" charset="-120"/>
              </a:rPr>
              <a:t>Clock-independent test</a:t>
            </a:r>
            <a:endParaRPr lang="en-US" sz="1050" dirty="0"/>
          </a:p>
        </p:txBody>
      </p:sp>
      <p:sp>
        <p:nvSpPr>
          <p:cNvPr id="8" name="Shape 6"/>
          <p:cNvSpPr/>
          <p:nvPr/>
        </p:nvSpPr>
        <p:spPr>
          <a:xfrm>
            <a:off x="548640" y="1691640"/>
            <a:ext cx="5852160" cy="1280160"/>
          </a:xfrm>
          <a:prstGeom prst="rect">
            <a:avLst/>
          </a:prstGeom>
          <a:solidFill>
            <a:srgbClr val="F6F7F9"/>
          </a:solidFill>
          <a:ln w="9525">
            <a:solidFill>
              <a:srgbClr val="C9CFD8"/>
            </a:solidFill>
            <a:prstDash val="solid"/>
          </a:ln>
        </p:spPr>
      </p:sp>
      <p:sp>
        <p:nvSpPr>
          <p:cNvPr id="9" name="Text 7"/>
          <p:cNvSpPr txBox="1"/>
          <p:nvPr/>
        </p:nvSpPr>
        <p:spPr>
          <a:xfrm>
            <a:off x="731520" y="1819656"/>
            <a:ext cx="5486400" cy="1024128"/>
          </a:xfrm>
          <a:prstGeom prst="rect">
            <a:avLst/>
          </a:prstGeom>
          <a:noFill/>
          <a:ln/>
        </p:spPr>
        <p:txBody>
          <a:bodyPr wrap="square" lIns="0" tIns="0" rIns="0" bIns="0" rtlCol="0" anchor="t"/>
          <a:lstStyle/>
          <a:p>
            <a:pPr indent="0" marL="0">
              <a:buNone/>
            </a:pPr>
            <a:r>
              <a:rPr lang="en-US" sz="1150" dirty="0">
                <a:solidFill>
                  <a:srgbClr val="4F7A5C"/>
                </a:solidFill>
                <a:latin typeface="Courier New" pitchFamily="34" charset="0"/>
                <a:ea typeface="Courier New" pitchFamily="34" charset="-122"/>
                <a:cs typeface="Courier New" pitchFamily="34" charset="-120"/>
              </a:rPr>
              <a:t># pqm4_extrapolation.py, build_comparison()</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for op, t_paper_ms in paper_latencies:</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cycles = pqm4_cycles[op]          </a:t>
            </a:r>
            <a:pPr indent="0" marL="0">
              <a:buNone/>
            </a:pPr>
            <a:r>
              <a:rPr lang="en-US" sz="1150" dirty="0">
                <a:solidFill>
                  <a:srgbClr val="4F7A5C"/>
                </a:solidFill>
                <a:latin typeface="Courier New" pitchFamily="34" charset="0"/>
                <a:ea typeface="Courier New" pitchFamily="34" charset="-122"/>
                <a:cs typeface="Courier New" pitchFamily="34" charset="-120"/>
              </a:rPr>
              <a:t># measured on Cortex-M4</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    implied_mhz = cycles / (t_paper_ms * 1000)</a:t>
            </a:r>
            <a:endParaRPr lang="en-US" sz="1150" dirty="0"/>
          </a:p>
          <a:p>
            <a:pPr indent="0" marL="0">
              <a:buNone/>
            </a:pPr>
            <a:r>
              <a:rPr lang="en-US" sz="1150" dirty="0">
                <a:solidFill>
                  <a:srgbClr val="1F2937"/>
                </a:solidFill>
                <a:latin typeface="Courier New" pitchFamily="34" charset="0"/>
                <a:ea typeface="Courier New" pitchFamily="34" charset="-122"/>
                <a:cs typeface="Courier New" pitchFamily="34" charset="-120"/>
              </a:rPr>
              <a:t>spread = max(implied_mhz) / min(implied_mhz)</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5852160" cy="914400"/>
        </p:xfrm>
        <a:graphic>
          <a:graphicData uri="http://schemas.openxmlformats.org/drawingml/2006/table">
            <a:tbl>
              <a:tblPr/>
              <a:tblGrid>
                <a:gridCol w="2011680"/>
                <a:gridCol w="1325880"/>
                <a:gridCol w="960120"/>
                <a:gridCol w="1554480"/>
              </a:tblGrid>
              <a:tr h="402336">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Operation</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pqm4 cycles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Paper ms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Implied clock</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Kyber512 encapsulate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700,605</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28</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25.0 MHz</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Kyber512 decapsulate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888,653</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31</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28.7 MHz</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Dilithium2 sign</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7,925,955</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42</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222222"/>
                          </a:solidFill>
                          <a:latin typeface="Calibri" pitchFamily="34" charset="0"/>
                          <a:ea typeface="Calibri" pitchFamily="34" charset="-122"/>
                          <a:cs typeface="Calibri" pitchFamily="34" charset="-120"/>
                        </a:rPr>
                        <a:t>188.7 MHz</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02336">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Dilithium2 verify</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2,063,096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57.3 MHz</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548640" y="5349240"/>
            <a:ext cx="5852160" cy="685800"/>
          </a:xfrm>
          <a:prstGeom prst="rect">
            <a:avLst/>
          </a:prstGeom>
          <a:noFill/>
          <a:ln/>
        </p:spPr>
        <p:txBody>
          <a:bodyPr wrap="square" lIns="0" tIns="0" rIns="0" bIns="0" rtlCol="0" anchor="t"/>
          <a:lstStyle/>
          <a:p>
            <a:pPr indent="0" marL="0">
              <a:buNone/>
            </a:pPr>
            <a:r>
              <a:rPr lang="en-US" sz="1350" b="1" dirty="0">
                <a:solidFill>
                  <a:srgbClr val="1B2A4A"/>
                </a:solidFill>
                <a:latin typeface="Calibri" pitchFamily="34" charset="0"/>
                <a:ea typeface="Calibri" pitchFamily="34" charset="-122"/>
                <a:cs typeface="Calibri" pitchFamily="34" charset="-120"/>
              </a:rPr>
              <a:t>One device has one clock. Whatever clock the authors intended, these four figures cannot all be cycle-accurate measurements.</a:t>
            </a:r>
            <a:endParaRPr lang="en-US" sz="1350" dirty="0"/>
          </a:p>
        </p:txBody>
      </p:sp>
      <p:graphicFrame>
        <p:nvGraphicFramePr>
          <p:cNvPr id="12" name="Chart 0" descr=""/>
          <p:cNvGraphicFramePr/>
          <p:nvPr/>
        </p:nvGraphicFramePr>
        <p:xfrm>
          <a:off x="6766560" y="1371600"/>
          <a:ext cx="4876495" cy="4663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8  Results · Phase 5 (G5)</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Device-class guidance: which scheme, in which role, on which device</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results/device_class_matrix.csv; latencies from pqm4 at 24 MHz; sizes from sizes.csv; RFC 7228 classes by RAM</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19</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23160"/>
                <a:gridCol w="1325880"/>
                <a:gridCol w="1325880"/>
                <a:gridCol w="1325880"/>
                <a:gridCol w="4690872"/>
              </a:tblGrid>
              <a:tr h="457200">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Scheme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A4A"/>
                          </a:solidFill>
                          <a:latin typeface="Calibri" pitchFamily="34" charset="0"/>
                          <a:ea typeface="Calibri" pitchFamily="34" charset="-122"/>
                          <a:cs typeface="Calibri" pitchFamily="34" charset="-120"/>
                        </a:rPr>
                        <a:t>Class 0 (&lt; 10 KiB)</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A4A"/>
                          </a:solidFill>
                          <a:latin typeface="Calibri" pitchFamily="34" charset="0"/>
                          <a:ea typeface="Calibri" pitchFamily="34" charset="-122"/>
                          <a:cs typeface="Calibri" pitchFamily="34" charset="-120"/>
                        </a:rPr>
                        <a:t>Class 1 (~10 KiB)</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2A4A"/>
                          </a:solidFill>
                          <a:latin typeface="Calibri" pitchFamily="34" charset="0"/>
                          <a:ea typeface="Calibri" pitchFamily="34" charset="-122"/>
                          <a:cs typeface="Calibri" pitchFamily="34" charset="-120"/>
                        </a:rPr>
                        <a:t>Class 2 (~50 KiB)</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00" b="1" dirty="0">
                          <a:solidFill>
                            <a:srgbClr val="1B2A4A"/>
                          </a:solidFill>
                          <a:latin typeface="Calibri" pitchFamily="34" charset="0"/>
                          <a:ea typeface="Calibri" pitchFamily="34" charset="-122"/>
                          <a:cs typeface="Calibri" pitchFamily="34" charset="-120"/>
                        </a:rPr>
                        <a:t>Binding constraint</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ML-KEM-512</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 *</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E6F1EA"/>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E6F1E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~3 KB stack, &lt; 40 ms per operation. * 800 B key and 768 B ciphertext fragment heavily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ML-KEM-768</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8A5A12"/>
                          </a:solidFill>
                          <a:latin typeface="Calibri" pitchFamily="34" charset="0"/>
                          <a:ea typeface="Calibri" pitchFamily="34" charset="-122"/>
                          <a:cs typeface="Calibri" pitchFamily="34" charset="-120"/>
                        </a:rPr>
                        <a:t>Caution</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8F0E1"/>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E6F1E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~5 KB stack, ~58 ms decapsulation; 1.1 KB on the wire strains Class 1 radios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ML-DSA-44</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8A5A12"/>
                          </a:solidFill>
                          <a:latin typeface="Calibri" pitchFamily="34" charset="0"/>
                          <a:ea typeface="Calibri" pitchFamily="34" charset="-122"/>
                          <a:cs typeface="Calibri" pitchFamily="34" charset="-120"/>
                        </a:rPr>
                        <a:t>Caution</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8F0E1"/>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E6F1E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~50 KB peak signing stack; signing ~330 ms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Falcon-512</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8A5A12"/>
                          </a:solidFill>
                          <a:latin typeface="Calibri" pitchFamily="34" charset="0"/>
                          <a:ea typeface="Calibri" pitchFamily="34" charset="-122"/>
                          <a:cs typeface="Calibri" pitchFamily="34" charset="-120"/>
                        </a:rPr>
                        <a:t>Verify only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8F0E1"/>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E6F1E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Verification ~11 ms; key generation (~3 s) and signing belong on a gateway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SPHINCS+-128s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8A5A12"/>
                          </a:solidFill>
                          <a:latin typeface="Calibri" pitchFamily="34" charset="0"/>
                          <a:ea typeface="Calibri" pitchFamily="34" charset="-122"/>
                          <a:cs typeface="Calibri" pitchFamily="34" charset="-120"/>
                        </a:rPr>
                        <a:t>Verify only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8F0E1"/>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Signing takes minutes on a Cortex-M4; verification ~0.3 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SPHINCS+-128f</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8A5A12"/>
                          </a:solidFill>
                          <a:latin typeface="Calibri" pitchFamily="34" charset="0"/>
                          <a:ea typeface="Calibri" pitchFamily="34" charset="-122"/>
                          <a:cs typeface="Calibri" pitchFamily="34" charset="-120"/>
                        </a:rPr>
                        <a:t>Caution</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8F0E1"/>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Signing ~15 s; 17 KB signature</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Hybrid X25519 + ML-KEM-768</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A23B2C"/>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7E9E7"/>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E6F1E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+64 B and under 1 ms over pure ML-KEM: inexpensive insurance on Class 2</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ECDH / RSA-2048</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8A5A12"/>
                          </a:solidFill>
                          <a:latin typeface="Calibri" pitchFamily="34" charset="0"/>
                          <a:ea typeface="Calibri" pitchFamily="34" charset="-122"/>
                          <a:cs typeface="Calibri" pitchFamily="34" charset="-120"/>
                        </a:rPr>
                        <a:t>ECDH only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8F0E1"/>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E6F1EA"/>
                    </a:solidFill>
                  </a:tcPr>
                </a:tc>
                <a:tc>
                  <a:txBody>
                    <a:bodyPr/>
                    <a:lstStyle/>
                    <a:p>
                      <a:pPr algn="ctr" indent="0" marL="0">
                        <a:buNone/>
                      </a:pPr>
                      <a:r>
                        <a:rPr lang="en-US" sz="1200" dirty="0">
                          <a:solidFill>
                            <a:srgbClr val="2E6B45"/>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E6F1EA"/>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Quantum-broken; baseline only</a:t>
                      </a:r>
                      <a:endParaRPr lang="en-US" sz="12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The base paper's simulated node (64 KiB SRAM, Cortex-M4F) sits at the top of Class 2.</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9  Additional finding</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paper claims forward secrecy, but its protocol uses static KEM keys</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Narayanan et al. (2026) §3.2 and §4.9; code/hybrid_handshake.py, one_handshake() and handle_connection()</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20</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4361688"/>
                <a:gridCol w="4352544"/>
              </a:tblGrid>
              <a:tr h="658368">
                <a:tc>
                  <a:txBody>
                    <a:bodyPr/>
                    <a:lstStyle/>
                    <a:p>
                      <a:pPr algn="l" indent="0" marL="0">
                        <a:buNone/>
                      </a:pP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B2A4A"/>
                          </a:solidFill>
                          <a:latin typeface="Calibri" pitchFamily="34" charset="0"/>
                          <a:ea typeface="Calibri" pitchFamily="34" charset="-122"/>
                          <a:cs typeface="Calibri" pitchFamily="34" charset="-120"/>
                        </a:rPr>
                        <a:t>Base paper</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B2A4A"/>
                          </a:solidFill>
                          <a:latin typeface="Calibri" pitchFamily="34" charset="0"/>
                          <a:ea typeface="Calibri" pitchFamily="34" charset="-122"/>
                          <a:cs typeface="Calibri" pitchFamily="34" charset="-120"/>
                        </a:rPr>
                        <a:t>This project's handshake</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KEM key pairs</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Pre-computed, long-term, one per device (§3.2)</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Generated fresh for every session, then discarded</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Forward secrecy</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A23B2C"/>
                          </a:solidFill>
                          <a:latin typeface="Calibri" pitchFamily="34" charset="0"/>
                          <a:ea typeface="Calibri" pitchFamily="34" charset="-122"/>
                          <a:cs typeface="Calibri" pitchFamily="34" charset="-120"/>
                        </a:rPr>
                        <a:t>Claimed (§4.9), not provided</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2E6B45"/>
                          </a:solidFill>
                          <a:latin typeface="Calibri" pitchFamily="34" charset="0"/>
                          <a:ea typeface="Calibri" pitchFamily="34" charset="-122"/>
                          <a:cs typeface="Calibri" pitchFamily="34" charset="-120"/>
                        </a:rPr>
                        <a:t>Provided</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If a device key leaks later</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Every recorded past session can be decrypted</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Past sessions remain secret</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5836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Identities and timestamps in the key derivation are public, so they add no secrecy</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22222"/>
                          </a:solidFill>
                          <a:latin typeface="Calibri" pitchFamily="34" charset="0"/>
                          <a:ea typeface="Calibri" pitchFamily="34" charset="-122"/>
                          <a:cs typeface="Calibri" pitchFamily="34" charset="-120"/>
                        </a:rPr>
                        <a:t>Session secrets depend only on keys that no longer exist</a:t>
                      </a:r>
                      <a:endParaRPr lang="en-US" sz="14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029200"/>
            <a:ext cx="11094415" cy="640080"/>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Static keys cannot provide forward secrecy. This follows from the paper's own text, so it is stated as an internal inconsistency rather than an accusation.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9  Verification</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project checks its own outputs automatically</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21</a:t>
            </a:r>
            <a:endParaRPr lang="en-US" sz="950" dirty="0"/>
          </a:p>
        </p:txBody>
      </p:sp>
      <p:sp>
        <p:nvSpPr>
          <p:cNvPr id="6" name="Text 4"/>
          <p:cNvSpPr txBox="1"/>
          <p:nvPr/>
        </p:nvSpPr>
        <p:spPr>
          <a:xfrm>
            <a:off x="548640" y="1399032"/>
            <a:ext cx="6766560" cy="237744"/>
          </a:xfrm>
          <a:prstGeom prst="rect">
            <a:avLst/>
          </a:prstGeom>
          <a:noFill/>
          <a:ln/>
        </p:spPr>
        <p:txBody>
          <a:bodyPr wrap="square" lIns="0" tIns="0" rIns="0" bIns="0" rtlCol="0" anchor="t"/>
          <a:lstStyle/>
          <a:p>
            <a:pPr indent="0" marL="0">
              <a:buNone/>
            </a:pPr>
            <a:r>
              <a:rPr lang="en-US" sz="1050" dirty="0">
                <a:solidFill>
                  <a:srgbClr val="5F6B7A"/>
                </a:solidFill>
                <a:latin typeface="Courier New" pitchFamily="34" charset="0"/>
                <a:ea typeface="Courier New" pitchFamily="34" charset="-122"/>
                <a:cs typeface="Courier New" pitchFamily="34" charset="-120"/>
              </a:rPr>
              <a:t>code/test_handshake_security.py</a:t>
            </a:r>
            <a:endParaRPr lang="en-US" sz="1050" dirty="0"/>
          </a:p>
        </p:txBody>
      </p:sp>
      <p:sp>
        <p:nvSpPr>
          <p:cNvPr id="7" name="Shape 5"/>
          <p:cNvSpPr/>
          <p:nvPr/>
        </p:nvSpPr>
        <p:spPr>
          <a:xfrm>
            <a:off x="548640" y="1691640"/>
            <a:ext cx="6766560" cy="3017520"/>
          </a:xfrm>
          <a:prstGeom prst="rect">
            <a:avLst/>
          </a:prstGeom>
          <a:solidFill>
            <a:srgbClr val="F6F7F9"/>
          </a:solidFill>
          <a:ln w="9525">
            <a:solidFill>
              <a:srgbClr val="C9CFD8"/>
            </a:solidFill>
            <a:prstDash val="solid"/>
          </a:ln>
        </p:spPr>
      </p:sp>
      <p:sp>
        <p:nvSpPr>
          <p:cNvPr id="8" name="Text 6"/>
          <p:cNvSpPr txBox="1"/>
          <p:nvPr/>
        </p:nvSpPr>
        <p:spPr>
          <a:xfrm>
            <a:off x="731520" y="1819656"/>
            <a:ext cx="6400800" cy="2761488"/>
          </a:xfrm>
          <a:prstGeom prst="rect">
            <a:avLst/>
          </a:prstGeom>
          <a:noFill/>
          <a:ln/>
        </p:spPr>
        <p:txBody>
          <a:bodyPr wrap="square" lIns="0" tIns="0" rIns="0" bIns="0" rtlCol="0" anchor="t"/>
          <a:lstStyle/>
          <a:p>
            <a:pPr indent="0" marL="0">
              <a:buNone/>
            </a:pPr>
            <a:r>
              <a:rPr lang="en-US" sz="1200" dirty="0">
                <a:solidFill>
                  <a:srgbClr val="1F2937"/>
                </a:solidFill>
                <a:latin typeface="Courier New" pitchFamily="34" charset="0"/>
                <a:ea typeface="Courier New" pitchFamily="34" charset="-122"/>
                <a:cs typeface="Courier New" pitchFamily="34" charset="-120"/>
              </a:rPr>
              <a:t>$ python test_handshake_security.py</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correct handshake derives identical keys</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finished message verifies under the shared key</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tampered transcript yields a different key</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finished check FAILS CLOSED on transcript tamper</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changing the classical secret changes the key</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changing the PQ secret changes the key</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knowing only the PQ secret is insufficient</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[PASS] mode downgrade changes the derived key</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F2937"/>
                </a:solidFill>
                <a:latin typeface="Courier New" pitchFamily="34" charset="0"/>
                <a:ea typeface="Courier New" pitchFamily="34" charset="-122"/>
                <a:cs typeface="Courier New" pitchFamily="34" charset="-120"/>
              </a:rPr>
              <a:t>all security properties hold</a:t>
            </a:r>
            <a:endParaRPr lang="en-US" sz="1200" dirty="0"/>
          </a:p>
        </p:txBody>
      </p:sp>
      <p:sp>
        <p:nvSpPr>
          <p:cNvPr id="9" name="Text 7"/>
          <p:cNvSpPr txBox="1"/>
          <p:nvPr/>
        </p:nvSpPr>
        <p:spPr>
          <a:xfrm>
            <a:off x="548640" y="4892040"/>
            <a:ext cx="6766560" cy="685800"/>
          </a:xfrm>
          <a:prstGeom prst="rect">
            <a:avLst/>
          </a:prstGeom>
          <a:noFill/>
          <a:ln/>
        </p:spPr>
        <p:txBody>
          <a:bodyPr wrap="square" lIns="0" tIns="0" rIns="0" bIns="0" rtlCol="0" anchor="t"/>
          <a:lstStyle/>
          <a:p>
            <a:pPr indent="0" marL="0">
              <a:buNone/>
            </a:pPr>
            <a:r>
              <a:rPr lang="en-US" sz="1250" i="1" dirty="0">
                <a:solidFill>
                  <a:srgbClr val="5F6B7A"/>
                </a:solidFill>
                <a:latin typeface="Calibri" pitchFamily="34" charset="0"/>
                <a:ea typeface="Calibri" pitchFamily="34" charset="-122"/>
                <a:cs typeface="Calibri" pitchFamily="34" charset="-120"/>
              </a:rPr>
              <a:t>The seventh check states the hybrid property as a test: an attacker who breaks ML-KEM and learns ss_pq still cannot rebuild the key without the X25519 secret.</a:t>
            </a:r>
            <a:endParaRPr lang="en-US" sz="1250" dirty="0"/>
          </a:p>
        </p:txBody>
      </p:sp>
      <p:sp>
        <p:nvSpPr>
          <p:cNvPr id="10" name="Text 8"/>
          <p:cNvSpPr txBox="1"/>
          <p:nvPr/>
        </p:nvSpPr>
        <p:spPr>
          <a:xfrm>
            <a:off x="7680960" y="1371600"/>
            <a:ext cx="3962095" cy="292608"/>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Report-to-data verifier</a:t>
            </a:r>
            <a:endParaRPr lang="en-US" sz="1500" dirty="0"/>
          </a:p>
        </p:txBody>
      </p:sp>
      <p:sp>
        <p:nvSpPr>
          <p:cNvPr id="11" name="Text 9"/>
          <p:cNvSpPr txBox="1"/>
          <p:nvPr/>
        </p:nvSpPr>
        <p:spPr>
          <a:xfrm>
            <a:off x="7680960" y="1737360"/>
            <a:ext cx="3962095" cy="118872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verify_report_numbers.py re-reads every number quoted in the report and checks it against its CSV. Current result: all numbers reconcile; Falcon sizes are range-checked because they vary.</a:t>
            </a:r>
            <a:endParaRPr lang="en-US" sz="1300" dirty="0"/>
          </a:p>
        </p:txBody>
      </p:sp>
      <p:sp>
        <p:nvSpPr>
          <p:cNvPr id="12" name="Text 10"/>
          <p:cNvSpPr txBox="1"/>
          <p:nvPr/>
        </p:nvSpPr>
        <p:spPr>
          <a:xfrm>
            <a:off x="7680960" y="3154680"/>
            <a:ext cx="3962095" cy="292608"/>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Adversarial code review</a:t>
            </a:r>
            <a:endParaRPr lang="en-US" sz="1500" dirty="0"/>
          </a:p>
        </p:txBody>
      </p:sp>
      <p:sp>
        <p:nvSpPr>
          <p:cNvPr id="13" name="Text 11"/>
          <p:cNvSpPr txBox="1"/>
          <p:nvPr/>
        </p:nvSpPr>
        <p:spPr>
          <a:xfrm>
            <a:off x="7680960" y="3520440"/>
            <a:ext cx="3962095" cy="27432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22 defects found and fixed. Four changed results:</a:t>
            </a:r>
            <a:endParaRPr lang="en-US" sz="1300" dirty="0"/>
          </a:p>
        </p:txBody>
      </p:sp>
      <p:sp>
        <p:nvSpPr>
          <p:cNvPr id="14" name="Text 12"/>
          <p:cNvSpPr txBox="1"/>
          <p:nvPr/>
        </p:nvSpPr>
        <p:spPr>
          <a:xfrm>
            <a:off x="7680960" y="3886200"/>
            <a:ext cx="3962095" cy="219456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The --quick flag silently overwrote the canonical CSVs</a:t>
            </a:r>
            <a:endParaRPr lang="en-US" sz="1250" dirty="0"/>
          </a:p>
          <a:p>
            <a:pPr marL="203200" indent="-2032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Core pinning reported success without pinning</a:t>
            </a:r>
            <a:endParaRPr lang="en-US" sz="1250" dirty="0"/>
          </a:p>
          <a:p>
            <a:pPr marL="203200" indent="-2032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Naming implied hardware measurement where extrapolation was meant</a:t>
            </a:r>
            <a:endParaRPr lang="en-US" sz="1250" dirty="0"/>
          </a:p>
          <a:p>
            <a:pPr marL="203200" indent="-203200">
              <a:spcAft>
                <a:spcPts val="600"/>
              </a:spcAft>
              <a:buSzPct val="100000"/>
              <a:buChar char="▪"/>
            </a:pPr>
            <a:r>
              <a:rPr lang="en-US" sz="1250" dirty="0">
                <a:solidFill>
                  <a:srgbClr val="222222"/>
                </a:solidFill>
                <a:latin typeface="Calibri" pitchFamily="34" charset="0"/>
                <a:ea typeface="Calibri" pitchFamily="34" charset="-122"/>
                <a:cs typeface="Calibri" pitchFamily="34" charset="-120"/>
              </a:rPr>
              <a:t>Decapsulation-faster-than-encapsulation traced to a binding artefact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9  Intermediate findings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Six findings, each tied to a gap in the base paper</a:t>
            </a:r>
            <a:endParaRPr lang="en-US" sz="2600" dirty="0"/>
          </a:p>
        </p:txBody>
      </p:sp>
      <p:sp>
        <p:nvSpPr>
          <p:cNvPr id="4" name="Text 2"/>
          <p:cNvSpPr txBox="1"/>
          <p:nvPr/>
        </p:nvSpPr>
        <p:spPr>
          <a:xfrm>
            <a:off x="548640" y="6144768"/>
            <a:ext cx="10180015" cy="228600"/>
          </a:xfrm>
          <a:prstGeom prst="rect">
            <a:avLst/>
          </a:prstGeom>
          <a:noFill/>
          <a:ln/>
        </p:spPr>
        <p:txBody>
          <a:bodyPr wrap="square" lIns="0" tIns="0" rIns="0" bIns="0" rtlCol="0" anchor="t"/>
          <a:lstStyle/>
          <a:p>
            <a:pPr indent="0" marL="0">
              <a:buNone/>
            </a:pPr>
            <a:r>
              <a:rPr lang="en-US" sz="1000" i="1" dirty="0">
                <a:solidFill>
                  <a:srgbClr val="5F6B7A"/>
                </a:solidFill>
                <a:latin typeface="Calibri" pitchFamily="34" charset="0"/>
                <a:ea typeface="Calibri" pitchFamily="34" charset="-122"/>
                <a:cs typeface="Calibri" pitchFamily="34" charset="-120"/>
              </a:rPr>
              <a:t>Source: all figures from results/*.csv; single measurement run, see limitations</a:t>
            </a:r>
            <a:endParaRPr lang="en-US" sz="1000" dirty="0"/>
          </a:p>
        </p:txBody>
      </p:sp>
      <p:sp>
        <p:nvSpPr>
          <p:cNvPr id="5" name="Text 3"/>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6" name="Text 4"/>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22</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685800"/>
                <a:gridCol w="4572000"/>
                <a:gridCol w="5833872"/>
              </a:tblGrid>
              <a:tr h="603504">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Gap</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Finding</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603504">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G2</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Post-quantum cost on CPU-class hardware is bytes, not computation</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ML-KEM-512 encaps 0.154 ms vs ECDH 0.143 ms; 768–2,420 B vs 32–65 B</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03504">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G1</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Hybrid key exchange is inexpensive insurance</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+64 B and ~0.6 ms over pure ML-KEM-768, against ~2.2 KB to adopt post-quantum at all</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03504">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G3</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No signature family dominates; selection should follow role</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Falcon verifies in 0.066 ms but signs 11× slower than ML-DSA; SPHINCS+-128s signs in 1.19 s</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03504">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G4</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A naive tag comparison leaks; ML-KEM decapsulation does not</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r = +1.000, z = 70.5 for the naive loop; |z| ≤ 1.5 for decapsulation</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03504">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G4</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Measurement design can create a false leak</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Sequential control: z = 4.7 for a true 5 ns effect (earlier run |z| = 18.9)</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603504">
                <a:tc>
                  <a:txBody>
                    <a:bodyPr/>
                    <a:lstStyle/>
                    <a:p>
                      <a:pPr algn="l" indent="0" marL="0">
                        <a:buNone/>
                      </a:pPr>
                      <a:r>
                        <a:rPr lang="en-US" sz="1300" b="1" dirty="0">
                          <a:solidFill>
                            <a:srgbClr val="1B2A4A"/>
                          </a:solidFill>
                          <a:latin typeface="Calibri" pitchFamily="34" charset="0"/>
                          <a:ea typeface="Calibri" pitchFamily="34" charset="-122"/>
                          <a:cs typeface="Calibri" pitchFamily="34" charset="-120"/>
                        </a:rPr>
                        <a:t>G5</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The paper's reported latencies are internally inconsistent</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Implied clocks of 25.0, 28.7, 188.7 and 57.3 MHz: a 7.5× spread</a:t>
                      </a:r>
                      <a:endParaRPr lang="en-US" sz="130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In addition, the forward-secrecy claim contradicts the paper's static-key protocol (G6).</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10  Limitations and next steps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Known limitations and the plan for Review 3</a:t>
            </a:r>
            <a:endParaRPr lang="en-US" sz="2600" dirty="0"/>
          </a:p>
        </p:txBody>
      </p:sp>
      <p:sp>
        <p:nvSpPr>
          <p:cNvPr id="4" name="Text 2"/>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
        <p:nvSpPr>
          <p:cNvPr id="5" name="Text 3"/>
          <p:cNvSpPr txBox="1"/>
          <p:nvPr/>
        </p:nvSpPr>
        <p:spPr>
          <a:xfrm>
            <a:off x="10728655" y="6446520"/>
            <a:ext cx="914400" cy="228600"/>
          </a:xfrm>
          <a:prstGeom prst="rect">
            <a:avLst/>
          </a:prstGeom>
          <a:noFill/>
          <a:ln/>
        </p:spPr>
        <p:txBody>
          <a:bodyPr wrap="square" lIns="0" tIns="0" rIns="0" bIns="0" rtlCol="0" anchor="t"/>
          <a:lstStyle/>
          <a:p>
            <a:pPr algn="r" indent="0" marL="0">
              <a:buNone/>
            </a:pPr>
            <a:r>
              <a:rPr lang="en-US" sz="950" dirty="0">
                <a:solidFill>
                  <a:srgbClr val="8A93A0"/>
                </a:solidFill>
                <a:latin typeface="Calibri" pitchFamily="34" charset="0"/>
                <a:ea typeface="Calibri" pitchFamily="34" charset="-122"/>
                <a:cs typeface="Calibri" pitchFamily="34" charset="-120"/>
              </a:rPr>
              <a:t>23</a:t>
            </a:r>
            <a:endParaRPr lang="en-US" sz="950" dirty="0"/>
          </a:p>
        </p:txBody>
      </p:sp>
      <p:sp>
        <p:nvSpPr>
          <p:cNvPr id="6" name="Text 4"/>
          <p:cNvSpPr txBox="1"/>
          <p:nvPr/>
        </p:nvSpPr>
        <p:spPr>
          <a:xfrm>
            <a:off x="548640" y="1371600"/>
            <a:ext cx="5318608" cy="292608"/>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Known limitations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318608" cy="914400"/>
        </p:xfrm>
        <a:graphic>
          <a:graphicData uri="http://schemas.openxmlformats.org/drawingml/2006/table">
            <a:tbl>
              <a:tblPr/>
              <a:tblGrid>
                <a:gridCol w="2971800"/>
                <a:gridCol w="2346808"/>
              </a:tblGrid>
              <a:tr h="566928">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Limitation</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Consequence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Classical code is optimised assembly; PQ is portable C</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Reported PQ overheads are upper bounds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Desktop timing varies by tens of per cent</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Medians and full distributions reported</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Laptop-to-M4 milliseconds are indicative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Conclusions rest on pqm4 cycle counts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Timing resolution is hundreds of ns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Few-cycle leaks (KyberSlash) are out of reach</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Handshake is unauthenticated</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Authentication is the signature layer's role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324448" y="1371600"/>
            <a:ext cx="5318608" cy="292608"/>
          </a:xfrm>
          <a:prstGeom prst="rect">
            <a:avLst/>
          </a:prstGeom>
          <a:noFill/>
          <a:ln/>
        </p:spPr>
        <p:txBody>
          <a:bodyPr wrap="square" lIns="0" tIns="0" rIns="0" bIns="0" rtlCol="0" anchor="t"/>
          <a:lstStyle/>
          <a:p>
            <a:pPr indent="0" marL="0">
              <a:buNone/>
            </a:pPr>
            <a:r>
              <a:rPr lang="en-US" sz="1500" b="1" dirty="0">
                <a:solidFill>
                  <a:srgbClr val="1B2A4A"/>
                </a:solidFill>
                <a:latin typeface="Calibri" pitchFamily="34" charset="0"/>
                <a:ea typeface="Calibri" pitchFamily="34" charset="-122"/>
                <a:cs typeface="Calibri" pitchFamily="34" charset="-120"/>
              </a:rPr>
              <a:t>Plan for Review 3</a:t>
            </a:r>
            <a:endParaRPr lang="en-US" sz="15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324448" y="1737360"/>
          <a:ext cx="5318608" cy="914400"/>
        </p:xfrm>
        <a:graphic>
          <a:graphicData uri="http://schemas.openxmlformats.org/drawingml/2006/table">
            <a:tbl>
              <a:tblPr/>
              <a:tblGrid>
                <a:gridCol w="2331720"/>
                <a:gridCol w="2986888"/>
              </a:tblGrid>
              <a:tr h="566928">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Task</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Detail</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15875" cap="flat" cmpd="sng" algn="ctr">
                      <a:solidFill>
                        <a:srgbClr val="1B2A4A"/>
                      </a:solidFill>
                      <a:prstDash val="solid"/>
                      <a:round/>
                      <a:headEnd type="none" w="med" len="med"/>
                      <a:tailEnd type="none" w="med" len="med"/>
                    </a:lnT>
                    <a:lnB w="9525" cap="flat" cmpd="sng" algn="ctr">
                      <a:solidFill>
                        <a:srgbClr val="1B2A4A"/>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1  Clean re-measurement</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Idle machine on AC power; expect a uniform ~1.6× speed-up</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2  Comparison with prior work</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Against the base paper and published testbeds (Bozhko et al.; Hanna et al.)</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3  Energy estimate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Per-handshake energy on a Class 2 node from cycles and radio energy per byte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4  Statistical strengthening</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Confidence intervals; more samples for slow schemes</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6350" cap="flat" cmpd="sng" algn="ctr">
                      <a:solidFill>
                        <a:srgbClr val="C9CFD8"/>
                      </a:solidFill>
                      <a:prstDash val="solid"/>
                      <a:round/>
                      <a:headEnd type="none" w="med" len="med"/>
                      <a:tailEnd type="none" w="med" len="med"/>
                    </a:lnB>
                    <a:solidFill>
                      <a:srgbClr val="FFFFFF"/>
                    </a:solidFill>
                  </a:tcPr>
                </a:tc>
              </a:tr>
              <a:tr h="56692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5  Final report</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Prescribed template, IEEE paper and reproducible code</a:t>
                      </a:r>
                      <a:endParaRPr lang="en-US" sz="1250" dirty="0">
                        <a:latin typeface="Calibri" charset="0"/>
                        <a:ea typeface="Calibri" charset="0"/>
                        <a:cs typeface="Calibri" charset="0"/>
                      </a:endParaRPr>
                    </a:p>
                  </a:txBody>
                  <a:tcPr marL="76200" marR="76200" marT="25400" marB="25400" anchor="ctr">
                    <a:lnL w="0" cap="flat" cmpd="sng" algn="ctr">
                      <a:noFill/>
                    </a:lnL>
                    <a:lnR w="0" cap="flat" cmpd="sng" algn="ctr">
                      <a:noFill/>
                    </a:lnR>
                    <a:lnT w="0" cap="flat" cmpd="sng" algn="ctr">
                      <a:noFill/>
                    </a:lnT>
                    <a:lnB w="15875" cap="flat" cmpd="sng" algn="ctr">
                      <a:solidFill>
                        <a:srgbClr val="1B2A4A"/>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549640" y="0"/>
            <a:ext cx="3642055" cy="6858000"/>
          </a:xfrm>
          <a:prstGeom prst="rect">
            <a:avLst/>
          </a:prstGeom>
          <a:solidFill>
            <a:srgbClr val="1B2A4A"/>
          </a:solidFill>
          <a:ln/>
        </p:spPr>
      </p:sp>
      <p:sp>
        <p:nvSpPr>
          <p:cNvPr id="3" name="Text 1"/>
          <p:cNvSpPr txBox="1"/>
          <p:nvPr/>
        </p:nvSpPr>
        <p:spPr>
          <a:xfrm>
            <a:off x="548640" y="292608"/>
            <a:ext cx="7315200" cy="256032"/>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10  Live demonstration</a:t>
            </a:r>
            <a:endParaRPr lang="en-US" sz="1200" dirty="0"/>
          </a:p>
        </p:txBody>
      </p:sp>
      <p:sp>
        <p:nvSpPr>
          <p:cNvPr id="4" name="Text 2"/>
          <p:cNvSpPr txBox="1"/>
          <p:nvPr/>
        </p:nvSpPr>
        <p:spPr>
          <a:xfrm>
            <a:off x="548640" y="548640"/>
            <a:ext cx="7680960" cy="566928"/>
          </a:xfrm>
          <a:prstGeom prst="rect">
            <a:avLst/>
          </a:prstGeom>
          <a:noFill/>
          <a:ln/>
        </p:spPr>
        <p:txBody>
          <a:bodyPr wrap="square" lIns="0" tIns="0" rIns="0" bIns="0"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The handshake runs over a real TCP socket</a:t>
            </a:r>
            <a:endParaRPr lang="en-US" sz="2600" dirty="0"/>
          </a:p>
        </p:txBody>
      </p:sp>
      <p:sp>
        <p:nvSpPr>
          <p:cNvPr id="5" name="Text 3"/>
          <p:cNvSpPr txBox="1"/>
          <p:nvPr/>
        </p:nvSpPr>
        <p:spPr>
          <a:xfrm>
            <a:off x="548640" y="1399032"/>
            <a:ext cx="7452360" cy="237744"/>
          </a:xfrm>
          <a:prstGeom prst="rect">
            <a:avLst/>
          </a:prstGeom>
          <a:noFill/>
          <a:ln/>
        </p:spPr>
        <p:txBody>
          <a:bodyPr wrap="square" lIns="0" tIns="0" rIns="0" bIns="0" rtlCol="0" anchor="t"/>
          <a:lstStyle/>
          <a:p>
            <a:pPr indent="0" marL="0">
              <a:buNone/>
            </a:pPr>
            <a:r>
              <a:rPr lang="en-US" sz="1050" dirty="0">
                <a:solidFill>
                  <a:srgbClr val="5F6B7A"/>
                </a:solidFill>
                <a:latin typeface="Courier New" pitchFamily="34" charset="0"/>
                <a:ea typeface="Courier New" pitchFamily="34" charset="-122"/>
                <a:cs typeface="Courier New" pitchFamily="34" charset="-120"/>
              </a:rPr>
              <a:t>run from code/</a:t>
            </a:r>
            <a:endParaRPr lang="en-US" sz="1050" dirty="0"/>
          </a:p>
        </p:txBody>
      </p:sp>
      <p:sp>
        <p:nvSpPr>
          <p:cNvPr id="6" name="Shape 4"/>
          <p:cNvSpPr/>
          <p:nvPr/>
        </p:nvSpPr>
        <p:spPr>
          <a:xfrm>
            <a:off x="548640" y="1691640"/>
            <a:ext cx="7452360" cy="3429000"/>
          </a:xfrm>
          <a:prstGeom prst="rect">
            <a:avLst/>
          </a:prstGeom>
          <a:solidFill>
            <a:srgbClr val="F6F7F9"/>
          </a:solidFill>
          <a:ln w="9525">
            <a:solidFill>
              <a:srgbClr val="C9CFD8"/>
            </a:solidFill>
            <a:prstDash val="solid"/>
          </a:ln>
        </p:spPr>
      </p:sp>
      <p:sp>
        <p:nvSpPr>
          <p:cNvPr id="7" name="Text 5"/>
          <p:cNvSpPr txBox="1"/>
          <p:nvPr/>
        </p:nvSpPr>
        <p:spPr>
          <a:xfrm>
            <a:off x="731520" y="1819656"/>
            <a:ext cx="7086600" cy="3172968"/>
          </a:xfrm>
          <a:prstGeom prst="rect">
            <a:avLst/>
          </a:prstGeom>
          <a:noFill/>
          <a:ln/>
        </p:spPr>
        <p:txBody>
          <a:bodyPr wrap="square" lIns="0" tIns="0" rIns="0" bIns="0" rtlCol="0" anchor="t"/>
          <a:lstStyle/>
          <a:p>
            <a:pPr indent="0" marL="0">
              <a:buNone/>
            </a:pPr>
            <a:r>
              <a:rPr lang="en-US" sz="1300" dirty="0">
                <a:solidFill>
                  <a:srgbClr val="4F7A5C"/>
                </a:solidFill>
                <a:latin typeface="Courier New" pitchFamily="34" charset="0"/>
                <a:ea typeface="Courier New" pitchFamily="34" charset="-122"/>
                <a:cs typeface="Courier New" pitchFamily="34" charset="-120"/>
              </a:rPr>
              <a:t># terminal 1</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python hybrid_handshake.py --server</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4F7A5C"/>
                </a:solidFill>
                <a:latin typeface="Courier New" pitchFamily="34" charset="0"/>
                <a:ea typeface="Courier New" pitchFamily="34" charset="-122"/>
                <a:cs typeface="Courier New" pitchFamily="34" charset="-120"/>
              </a:rPr>
              <a:t># terminal 2</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python hybrid_handshake.py --client --mode hybrid --level 768</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4F7A5C"/>
                </a:solidFill>
                <a:latin typeface="Courier New" pitchFamily="34" charset="0"/>
                <a:ea typeface="Courier New" pitchFamily="34" charset="-122"/>
                <a:cs typeface="Courier New" pitchFamily="34" charset="-120"/>
              </a:rPr>
              <a:t># single terminal: all five configurations</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python hybrid_handshake.py</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4F7A5C"/>
                </a:solidFill>
                <a:latin typeface="Courier New" pitchFamily="34" charset="0"/>
                <a:ea typeface="Courier New" pitchFamily="34" charset="-122"/>
                <a:cs typeface="Courier New" pitchFamily="34" charset="-120"/>
              </a:rPr>
              <a:t># checks</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python test_handshake_security.py</a:t>
            </a:r>
            <a:endParaRPr lang="en-US" sz="1300" dirty="0"/>
          </a:p>
          <a:p>
            <a:pPr indent="0" marL="0">
              <a:buNone/>
            </a:pPr>
            <a:r>
              <a:rPr lang="en-US" sz="1300" dirty="0">
                <a:solidFill>
                  <a:srgbClr val="1F2937"/>
                </a:solidFill>
                <a:latin typeface="Courier New" pitchFamily="34" charset="0"/>
                <a:ea typeface="Courier New" pitchFamily="34" charset="-122"/>
                <a:cs typeface="Courier New" pitchFamily="34" charset="-120"/>
              </a:rPr>
              <a:t>python verify_report_numbers.py</a:t>
            </a:r>
            <a:endParaRPr lang="en-US" sz="1300" dirty="0"/>
          </a:p>
        </p:txBody>
      </p:sp>
      <p:sp>
        <p:nvSpPr>
          <p:cNvPr id="8" name="Text 6"/>
          <p:cNvSpPr txBox="1"/>
          <p:nvPr/>
        </p:nvSpPr>
        <p:spPr>
          <a:xfrm>
            <a:off x="8961120" y="2377440"/>
            <a:ext cx="2743200" cy="64008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Thank you</a:t>
            </a:r>
            <a:endParaRPr lang="en-US" sz="3200" dirty="0"/>
          </a:p>
        </p:txBody>
      </p:sp>
      <p:sp>
        <p:nvSpPr>
          <p:cNvPr id="9" name="Text 7"/>
          <p:cNvSpPr txBox="1"/>
          <p:nvPr/>
        </p:nvSpPr>
        <p:spPr>
          <a:xfrm>
            <a:off x="8961120" y="3063240"/>
            <a:ext cx="2743200" cy="365760"/>
          </a:xfrm>
          <a:prstGeom prst="rect">
            <a:avLst/>
          </a:prstGeom>
          <a:noFill/>
          <a:ln/>
        </p:spPr>
        <p:txBody>
          <a:bodyPr wrap="square" lIns="0" tIns="0" rIns="0" bIns="0" rtlCol="0" anchor="t"/>
          <a:lstStyle/>
          <a:p>
            <a:pPr indent="0" marL="0">
              <a:buNone/>
            </a:pPr>
            <a:r>
              <a:rPr lang="en-US" sz="1500" dirty="0">
                <a:solidFill>
                  <a:srgbClr val="E4E9F1"/>
                </a:solidFill>
                <a:latin typeface="Calibri" pitchFamily="34" charset="0"/>
                <a:ea typeface="Calibri" pitchFamily="34" charset="-122"/>
                <a:cs typeface="Calibri" pitchFamily="34" charset="-120"/>
              </a:rPr>
              <a:t>Questions and discussion</a:t>
            </a:r>
            <a:endParaRPr lang="en-US" sz="1500" dirty="0"/>
          </a:p>
        </p:txBody>
      </p:sp>
      <p:sp>
        <p:nvSpPr>
          <p:cNvPr id="10" name="Text 8"/>
          <p:cNvSpPr txBox="1"/>
          <p:nvPr/>
        </p:nvSpPr>
        <p:spPr>
          <a:xfrm>
            <a:off x="548640" y="6446520"/>
            <a:ext cx="5486400" cy="228600"/>
          </a:xfrm>
          <a:prstGeom prst="rect">
            <a:avLst/>
          </a:prstGeom>
          <a:noFill/>
          <a:ln/>
        </p:spPr>
        <p:txBody>
          <a:bodyPr wrap="square" lIns="0" tIns="0" rIns="0" bIns="0" rtlCol="0" anchor="t"/>
          <a:lstStyle/>
          <a:p>
            <a:pPr indent="0" marL="0">
              <a:buNone/>
            </a:pPr>
            <a:r>
              <a:rPr lang="en-US" sz="950" dirty="0">
                <a:solidFill>
                  <a:srgbClr val="8A93A0"/>
                </a:solidFill>
                <a:latin typeface="Calibri" pitchFamily="34" charset="0"/>
                <a:ea typeface="Calibri" pitchFamily="34" charset="-122"/>
                <a:cs typeface="Calibri" pitchFamily="34" charset="-120"/>
              </a:rPr>
              <a:t>Rakshit  |  CNS Mini Project  |  Review 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CNS Review 2: Real-Measurement Reappraisal of PQC for Constrained IoT</dc:title>
  <dc:subject>PptxGenJS Presentation</dc:subject>
  <dc:creator>Rakshit</dc:creator>
  <cp:lastModifiedBy>Rakshit</cp:lastModifiedBy>
  <cp:revision>1</cp:revision>
  <dcterms:created xsi:type="dcterms:W3CDTF">2026-09-23T06:32:21Z</dcterms:created>
  <dcterms:modified xsi:type="dcterms:W3CDTF">2026-09-23T06:32:21Z</dcterms:modified>
</cp:coreProperties>
</file>